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team and company leadership. Today I am proud to present the Coursera Multimodal Intelligence Platform — an enterprise solution for turning complex, unstructured course archives into clean, structured knowledge and grounded AI assistance. We have achieved production certification with 97 passing automated tests, a 12-table relational database, and live sub-second edge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for leadership: Online education creates massive multimodal data, but without structuring it, AI cannot be trusted. Our platform solves this by ensuring 100% traceable evidence, zero hallucinations, and sub-second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flow from left to right. Raw course archives enter through deterministic preprocessing, load into 12 normalized PostgreSQL tables, index into vector embeddings, pass through our strict EvidenceValidator, and surface via sub-second edge APIs.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specialized preprocessing modules. Emphasize that we parse captions down to 100ms precision, generate clean 387-token semantic chunks, sanitize HTML while extracting images, and catalog video streams without heavyweight re-encoding.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clean 3-tier structure: Course Hierarchy maintains perfect curriculum trees; Asset Registry acts as the single source of truth for all files; Observability tracks pipeline state and data quality issues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right side screenshot: Learners ask questions, and the AI answers with confidence ratings and verified citation badges linked directly to lecture segments. If the model ever tries to invent a citation, our EvidenceValidator catches and rejects it instantly.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completely modular and built with FastAPI. Every endpoint is type-safe with Pydantic schemas, documented automatically via Swagger/OpenAPI, and decoupled into discrete routers for courses, analysis, and conversational RAG.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user interface. It has a modern, polished dark/light glassmorphic look. Every card on the dashboard is interactive. Clicking 'Issues Detected' opens a modal showing exact failure modes, and instructors can review recommendations instantly.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Showcase the two drill-down modals: Issues Detected shows categorized quality flags. Recommendations provides specific remediation actions for course teams, such as adding visual schematics or clarifying terms at specific lecture timestamps.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deployment reliability: Our frontend is live on Vercel's global edge network responding in 0.289 seconds. The backend is containerized with Docker, and database migrations to Supabase are completely automated.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testing rigor to executive management: 97 automated tests passing in 0.91 seconds, zero hallucinations certified, and zero build warnings. This is not a prototype — it is certified production software.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business stakeholders: The platform saves an estimated 80% in curriculum review overhead, eliminates student confusion before it causes dropouts, and delivers immediate enterprise ROI.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roadmap is clear: Phase 1 is delivered and production-certified today. In Q4, we scale to batch multi-course ingestion and faculty feedback loops, followed by LMS integration and voice tutoring in 2027.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presentation, transition to the live demonstration at our production URL, and open the floor for questions from the engineering team and executive leadership.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3291840" cy="384048"/>
          </a:xfrm>
          <a:prstGeom prst="roundRect">
            <a:avLst/>
          </a:prstGeom>
          <a:solidFill>
            <a:srgbClr val="1E3A8A"/>
          </a:solidFill>
          <a:ln>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FDBFE"/>
                </a:solidFill>
              </a:defRPr>
            </a:pPr>
            <a:r>
              <a:t>ENTERPRISE MULTIMODAL AI PLATFORM</a:t>
            </a:r>
          </a:p>
        </p:txBody>
      </p:sp>
      <p:sp>
        <p:nvSpPr>
          <p:cNvPr id="4" name="TextBox 3"/>
          <p:cNvSpPr txBox="1"/>
          <p:nvPr/>
        </p:nvSpPr>
        <p:spPr>
          <a:xfrm>
            <a:off x="1097280" y="1691640"/>
            <a:ext cx="10058400" cy="1463040"/>
          </a:xfrm>
          <a:prstGeom prst="rect">
            <a:avLst/>
          </a:prstGeom>
          <a:noFill/>
        </p:spPr>
        <p:txBody>
          <a:bodyPr wrap="square">
            <a:spAutoFit/>
          </a:bodyPr>
          <a:lstStyle/>
          <a:p>
            <a:pPr>
              <a:defRPr sz="3600" b="1">
                <a:solidFill>
                  <a:srgbClr val="FFFFFF"/>
                </a:solidFill>
              </a:defRPr>
            </a:pPr>
            <a:r>
              <a:t>Coursera Multimodal Intelligence Platform</a:t>
            </a:r>
          </a:p>
          <a:p>
            <a:pPr>
              <a:spcBef>
                <a:spcPts val="800"/>
              </a:spcBef>
              <a:defRPr sz="1800">
                <a:solidFill>
                  <a:srgbClr val="94A3B8"/>
                </a:solidFill>
              </a:defRPr>
            </a:pPr>
            <a:r>
              <a:t>Evidence-First Data, Relational Database &amp; Anti-Hallucination RAG Architecture</a:t>
            </a:r>
          </a:p>
        </p:txBody>
      </p:sp>
      <p:sp>
        <p:nvSpPr>
          <p:cNvPr id="5" name="Rounded Rectangle 4"/>
          <p:cNvSpPr/>
          <p:nvPr/>
        </p:nvSpPr>
        <p:spPr>
          <a:xfrm>
            <a:off x="1097280" y="356616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300" b="1">
                <a:solidFill>
                  <a:srgbClr val="38BDF8"/>
                </a:solidFill>
              </a:defRPr>
            </a:pPr>
            <a:r>
              <a:t>4 MODALITIES</a:t>
            </a:r>
          </a:p>
          <a:p>
            <a:pPr>
              <a:spcBef>
                <a:spcPts val="400"/>
              </a:spcBef>
              <a:defRPr sz="950">
                <a:solidFill>
                  <a:srgbClr val="CBD5E1"/>
                </a:solidFill>
              </a:defRPr>
            </a:pPr>
            <a:r>
              <a:t>Video, SRT, TXT, HTML</a:t>
            </a:r>
          </a:p>
        </p:txBody>
      </p:sp>
      <p:sp>
        <p:nvSpPr>
          <p:cNvPr id="6" name="Rounded Rectangle 5"/>
          <p:cNvSpPr/>
          <p:nvPr/>
        </p:nvSpPr>
        <p:spPr>
          <a:xfrm>
            <a:off x="3657600" y="356616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300" b="1">
                <a:solidFill>
                  <a:srgbClr val="4ADE80"/>
                </a:solidFill>
              </a:defRPr>
            </a:pPr>
            <a:r>
              <a:t>12 TABLES</a:t>
            </a:r>
          </a:p>
          <a:p>
            <a:pPr>
              <a:spcBef>
                <a:spcPts val="400"/>
              </a:spcBef>
              <a:defRPr sz="950">
                <a:solidFill>
                  <a:srgbClr val="CBD5E1"/>
                </a:solidFill>
              </a:defRPr>
            </a:pPr>
            <a:r>
              <a:t>Normalized PostgreSQL</a:t>
            </a:r>
          </a:p>
        </p:txBody>
      </p:sp>
      <p:sp>
        <p:nvSpPr>
          <p:cNvPr id="7" name="Rounded Rectangle 6"/>
          <p:cNvSpPr/>
          <p:nvPr/>
        </p:nvSpPr>
        <p:spPr>
          <a:xfrm>
            <a:off x="6217920" y="356616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300" b="1">
                <a:solidFill>
                  <a:srgbClr val="C084FC"/>
                </a:solidFill>
              </a:defRPr>
            </a:pPr>
            <a:r>
              <a:t>97 / 97 TESTS</a:t>
            </a:r>
          </a:p>
          <a:p>
            <a:pPr>
              <a:spcBef>
                <a:spcPts val="400"/>
              </a:spcBef>
              <a:defRPr sz="950">
                <a:solidFill>
                  <a:srgbClr val="CBD5E1"/>
                </a:solidFill>
              </a:defRPr>
            </a:pPr>
            <a:r>
              <a:t>100% Sub-Second Pass</a:t>
            </a:r>
          </a:p>
        </p:txBody>
      </p:sp>
      <p:sp>
        <p:nvSpPr>
          <p:cNvPr id="8" name="Rounded Rectangle 7"/>
          <p:cNvSpPr/>
          <p:nvPr/>
        </p:nvSpPr>
        <p:spPr>
          <a:xfrm>
            <a:off x="8778239" y="3566160"/>
            <a:ext cx="237744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300" b="1">
                <a:solidFill>
                  <a:srgbClr val="FBBF24"/>
                </a:solidFill>
              </a:defRPr>
            </a:pPr>
            <a:r>
              <a:t>0.289s LATENCY</a:t>
            </a:r>
          </a:p>
          <a:p>
            <a:pPr>
              <a:spcBef>
                <a:spcPts val="400"/>
              </a:spcBef>
              <a:defRPr sz="950">
                <a:solidFill>
                  <a:srgbClr val="CBD5E1"/>
                </a:solidFill>
              </a:defRPr>
            </a:pPr>
            <a:r>
              <a:t>Vercel Global Edge CDN</a:t>
            </a:r>
          </a:p>
        </p:txBody>
      </p:sp>
      <p:sp>
        <p:nvSpPr>
          <p:cNvPr id="9" name="TextBox 8"/>
          <p:cNvSpPr txBox="1"/>
          <p:nvPr/>
        </p:nvSpPr>
        <p:spPr>
          <a:xfrm>
            <a:off x="1097280" y="5486400"/>
            <a:ext cx="10058400" cy="731520"/>
          </a:xfrm>
          <a:prstGeom prst="rect">
            <a:avLst/>
          </a:prstGeom>
          <a:noFill/>
        </p:spPr>
        <p:txBody>
          <a:bodyPr wrap="none">
            <a:spAutoFit/>
          </a:bodyPr>
          <a:lstStyle/>
          <a:p>
            <a:pPr>
              <a:defRPr sz="1100" b="1">
                <a:solidFill>
                  <a:srgbClr val="FFFFFF"/>
                </a:solidFill>
              </a:defRPr>
            </a:pPr>
            <a:r>
              <a:t>Presented to Team &amp; Company Leadership | Production Certified Release v1.2.0</a:t>
            </a:r>
          </a:p>
          <a:p>
            <a:pPr>
              <a:spcBef>
                <a:spcPts val="300"/>
              </a:spcBef>
              <a:defRPr sz="1000">
                <a:solidFill>
                  <a:srgbClr val="94A3B8"/>
                </a:solidFill>
              </a:defRPr>
            </a:pPr>
            <a:r>
              <a:t>Live Production URL: https://coursera-multimodal-intelligence-pl.vercel.app/ | Git: 0382391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STRATEGIC CONTEXT</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The Challenge &amp; Executive Vision</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Bridging the gap between raw educational content and verifiable AI intelligence</a:t>
            </a:r>
          </a:p>
        </p:txBody>
      </p:sp>
      <p:sp>
        <p:nvSpPr>
          <p:cNvPr id="6" name="Rounded Rectangle 5"/>
          <p:cNvSpPr/>
          <p:nvPr/>
        </p:nvSpPr>
        <p:spPr>
          <a:xfrm>
            <a:off x="731520" y="1463040"/>
            <a:ext cx="5120640" cy="4754880"/>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572000" cy="4297680"/>
          </a:xfrm>
          <a:prstGeom prst="rect">
            <a:avLst/>
          </a:prstGeom>
          <a:noFill/>
        </p:spPr>
        <p:txBody>
          <a:bodyPr wrap="square">
            <a:spAutoFit/>
          </a:bodyPr>
          <a:lstStyle/>
          <a:p>
            <a:pPr>
              <a:defRPr sz="1200" b="1">
                <a:solidFill>
                  <a:srgbClr val="B91C1C"/>
                </a:solidFill>
              </a:defRPr>
            </a:pPr>
            <a:r>
              <a:t>CRITICAL PAIN POINTS TODAY</a:t>
            </a:r>
          </a:p>
          <a:p>
            <a:pPr>
              <a:spcBef>
                <a:spcPts val="800"/>
              </a:spcBef>
              <a:defRPr b="1" sz="950">
                <a:solidFill>
                  <a:srgbClr val="991B1B"/>
                </a:solidFill>
              </a:defRPr>
            </a:pPr>
            <a:r>
              <a:t>- Unstructured Multimodal Silos: </a:t>
            </a:r>
            <a:r>
              <a:rPr b="0">
                <a:solidFill>
                  <a:srgbClr val="44403C"/>
                </a:solidFill>
              </a:rPr>
              <a:t>Video lectures, SRT captions, TXT transcripts, and HTML reading materials sit in disconnected archives with zero referential integrity.</a:t>
            </a:r>
          </a:p>
          <a:p>
            <a:pPr>
              <a:spcBef>
                <a:spcPts val="800"/>
              </a:spcBef>
              <a:defRPr b="1" sz="950">
                <a:solidFill>
                  <a:srgbClr val="991B1B"/>
                </a:solidFill>
              </a:defRPr>
            </a:pPr>
            <a:r>
              <a:t>- AI Hallucination in Education: </a:t>
            </a:r>
            <a:r>
              <a:rPr b="0">
                <a:solidFill>
                  <a:srgbClr val="44403C"/>
                </a:solidFill>
              </a:rPr>
              <a:t>Standard LLMs fabricate answers, misquote curriculum topics, and confuse learners without traceable evidence from course syllabi.</a:t>
            </a:r>
          </a:p>
          <a:p>
            <a:pPr>
              <a:spcBef>
                <a:spcPts val="800"/>
              </a:spcBef>
              <a:defRPr b="1" sz="950">
                <a:solidFill>
                  <a:srgbClr val="991B1B"/>
                </a:solidFill>
              </a:defRPr>
            </a:pPr>
            <a:r>
              <a:t>- No Pedagogical Diagnostics: </a:t>
            </a:r>
            <a:r>
              <a:rPr b="0">
                <a:solidFill>
                  <a:srgbClr val="44403C"/>
                </a:solidFill>
              </a:rPr>
              <a:t>Course instructors lack automated tools to detect concept confusion bottlenecks, missing video captions, or student drop-off friction points.</a:t>
            </a:r>
          </a:p>
          <a:p>
            <a:pPr>
              <a:spcBef>
                <a:spcPts val="800"/>
              </a:spcBef>
              <a:defRPr b="1" sz="950">
                <a:solidFill>
                  <a:srgbClr val="991B1B"/>
                </a:solidFill>
              </a:defRPr>
            </a:pPr>
            <a:r>
              <a:t>- Slow Ingestion &amp; RAG Lag: </a:t>
            </a:r>
            <a:r>
              <a:rPr b="0">
                <a:solidFill>
                  <a:srgbClr val="44403C"/>
                </a:solidFill>
              </a:rPr>
              <a:t>Previous generative tools suffered from multi-minute latency, unindexed vectors, and fragile data pipelines.</a:t>
            </a:r>
          </a:p>
        </p:txBody>
      </p:sp>
      <p:sp>
        <p:nvSpPr>
          <p:cNvPr id="8" name="Rounded Rectangle 7"/>
          <p:cNvSpPr/>
          <p:nvPr/>
        </p:nvSpPr>
        <p:spPr>
          <a:xfrm>
            <a:off x="6217920" y="1463040"/>
            <a:ext cx="5212080" cy="4754880"/>
          </a:xfrm>
          <a:prstGeom prst="roundRect">
            <a:avLst/>
          </a:prstGeom>
          <a:solidFill>
            <a:srgbClr val="ECFDF5"/>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663440" cy="4297680"/>
          </a:xfrm>
          <a:prstGeom prst="rect">
            <a:avLst/>
          </a:prstGeom>
          <a:noFill/>
        </p:spPr>
        <p:txBody>
          <a:bodyPr wrap="square">
            <a:spAutoFit/>
          </a:bodyPr>
          <a:lstStyle/>
          <a:p>
            <a:pPr>
              <a:defRPr sz="1200" b="1">
                <a:solidFill>
                  <a:srgbClr val="065F46"/>
                </a:solidFill>
              </a:defRPr>
            </a:pPr>
            <a:r>
              <a:t>OUR EVIDENCE-FIRST SOLUTION</a:t>
            </a:r>
          </a:p>
          <a:p>
            <a:pPr>
              <a:spcBef>
                <a:spcPts val="800"/>
              </a:spcBef>
              <a:defRPr b="1" sz="950">
                <a:solidFill>
                  <a:srgbClr val="065F46"/>
                </a:solidFill>
              </a:defRPr>
            </a:pPr>
            <a:r>
              <a:t>+ Multimodal Preprocessing Pipeline: </a:t>
            </a:r>
            <a:r>
              <a:rPr b="0">
                <a:solidFill>
                  <a:srgbClr val="1E293B"/>
                </a:solidFill>
              </a:rPr>
              <a:t>Deterministic extraction, 100ms caption synchronization, ~500-token semantic chunking, and SHA-256 asset registration.</a:t>
            </a:r>
          </a:p>
          <a:p>
            <a:pPr>
              <a:spcBef>
                <a:spcPts val="800"/>
              </a:spcBef>
              <a:defRPr b="1" sz="950">
                <a:solidFill>
                  <a:srgbClr val="065F46"/>
                </a:solidFill>
              </a:defRPr>
            </a:pPr>
            <a:r>
              <a:t>+ 12-Table Relational Schema: </a:t>
            </a:r>
            <a:r>
              <a:rPr b="0">
                <a:solidFill>
                  <a:srgbClr val="1E293B"/>
                </a:solidFill>
              </a:rPr>
              <a:t>Fully normalized PostgreSQL / Supabase architecture preserving course hierarchies, modules, lessons, assets, and embeddings.</a:t>
            </a:r>
          </a:p>
          <a:p>
            <a:pPr>
              <a:spcBef>
                <a:spcPts val="800"/>
              </a:spcBef>
              <a:defRPr b="1" sz="950">
                <a:solidFill>
                  <a:srgbClr val="065F46"/>
                </a:solidFill>
              </a:defRPr>
            </a:pPr>
            <a:r>
              <a:t>+ Strict Anti-Hallucination Guardrails: </a:t>
            </a:r>
            <a:r>
              <a:rPr b="0">
                <a:solidFill>
                  <a:srgbClr val="1E293B"/>
                </a:solidFill>
              </a:rPr>
              <a:t>Proprietary EvidenceValidator rejects ungrounded responses. All answers cite verified chunk tokens (E1, E2) with similarity &gt;= 0.40.</a:t>
            </a:r>
          </a:p>
          <a:p>
            <a:pPr>
              <a:spcBef>
                <a:spcPts val="800"/>
              </a:spcBef>
              <a:defRPr b="1" sz="950">
                <a:solidFill>
                  <a:srgbClr val="065F46"/>
                </a:solidFill>
              </a:defRPr>
            </a:pPr>
            <a:r>
              <a:t>+ High-Performance Edge Deployment: </a:t>
            </a:r>
            <a:r>
              <a:rPr b="0">
                <a:solidFill>
                  <a:srgbClr val="1E293B"/>
                </a:solidFill>
              </a:rPr>
              <a:t>FastAPI microservices backed by sub-second Vercel Global Edge CDN (0.289s latency) and instant Gemini 2.5 Flash synthesis.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SYSTEM DESIGN</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End-to-End Multimodal System Architecture</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Data Ingestion -&gt; Preprocessing -&gt; PostgreSQL -&gt; Vector DB -&gt; RAG Guardrail -&gt; Edge UI</a:t>
            </a:r>
          </a:p>
        </p:txBody>
      </p:sp>
      <p:sp>
        <p:nvSpPr>
          <p:cNvPr id="6" name="Rounded Rectangle 5"/>
          <p:cNvSpPr/>
          <p:nvPr/>
        </p:nvSpPr>
        <p:spPr>
          <a:xfrm>
            <a:off x="731520" y="1554480"/>
            <a:ext cx="2011680" cy="310896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691640"/>
            <a:ext cx="1792224" cy="2743200"/>
          </a:xfrm>
          <a:prstGeom prst="rect">
            <a:avLst/>
          </a:prstGeom>
          <a:noFill/>
        </p:spPr>
        <p:txBody>
          <a:bodyPr wrap="square">
            <a:spAutoFit/>
          </a:bodyPr>
          <a:lstStyle/>
          <a:p>
            <a:pPr>
              <a:defRPr sz="1100" b="1">
                <a:solidFill>
                  <a:srgbClr val="2563EB"/>
                </a:solidFill>
              </a:defRPr>
            </a:pPr>
            <a:r>
              <a:t>1. Raw Course Data</a:t>
            </a:r>
          </a:p>
          <a:p>
            <a:pPr>
              <a:spcBef>
                <a:spcPts val="400"/>
              </a:spcBef>
              <a:defRPr sz="900">
                <a:solidFill>
                  <a:srgbClr val="0F172A"/>
                </a:solidFill>
              </a:defRPr>
            </a:pPr>
            <a:r>
              <a:t>ZIP / S3 / Local</a:t>
            </a:r>
          </a:p>
          <a:p>
            <a:pPr>
              <a:spcBef>
                <a:spcPts val="400"/>
              </a:spcBef>
              <a:defRPr sz="900">
                <a:solidFill>
                  <a:srgbClr val="0F172A"/>
                </a:solidFill>
              </a:defRPr>
            </a:pPr>
            <a:r>
              <a:t>157 Total Files</a:t>
            </a:r>
          </a:p>
          <a:p>
            <a:pPr>
              <a:spcBef>
                <a:spcPts val="400"/>
              </a:spcBef>
              <a:defRPr sz="900">
                <a:solidFill>
                  <a:srgbClr val="0F172A"/>
                </a:solidFill>
              </a:defRPr>
            </a:pPr>
            <a:r>
              <a:t>Videos, SRT, TXT, HTML</a:t>
            </a:r>
          </a:p>
        </p:txBody>
      </p:sp>
      <p:sp>
        <p:nvSpPr>
          <p:cNvPr id="8" name="Rounded Rectangle 7"/>
          <p:cNvSpPr/>
          <p:nvPr/>
        </p:nvSpPr>
        <p:spPr>
          <a:xfrm>
            <a:off x="2926080" y="1554480"/>
            <a:ext cx="2011680" cy="310896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5808" y="1691640"/>
            <a:ext cx="1792224" cy="2743200"/>
          </a:xfrm>
          <a:prstGeom prst="rect">
            <a:avLst/>
          </a:prstGeom>
          <a:noFill/>
        </p:spPr>
        <p:txBody>
          <a:bodyPr wrap="square">
            <a:spAutoFit/>
          </a:bodyPr>
          <a:lstStyle/>
          <a:p>
            <a:pPr>
              <a:defRPr sz="1100" b="1">
                <a:solidFill>
                  <a:srgbClr val="2563EB"/>
                </a:solidFill>
              </a:defRPr>
            </a:pPr>
            <a:r>
              <a:t>2. Preprocessing</a:t>
            </a:r>
          </a:p>
          <a:p>
            <a:pPr>
              <a:spcBef>
                <a:spcPts val="400"/>
              </a:spcBef>
              <a:defRPr sz="900">
                <a:solidFill>
                  <a:srgbClr val="0F172A"/>
                </a:solidFill>
              </a:defRPr>
            </a:pPr>
            <a:r>
              <a:t>100ms SRT Sync</a:t>
            </a:r>
          </a:p>
          <a:p>
            <a:pPr>
              <a:spcBef>
                <a:spcPts val="400"/>
              </a:spcBef>
              <a:defRPr sz="900">
                <a:solidFill>
                  <a:srgbClr val="0F172A"/>
                </a:solidFill>
              </a:defRPr>
            </a:pPr>
            <a:r>
              <a:t>500-Token Chunking</a:t>
            </a:r>
          </a:p>
          <a:p>
            <a:pPr>
              <a:spcBef>
                <a:spcPts val="400"/>
              </a:spcBef>
              <a:defRPr sz="900">
                <a:solidFill>
                  <a:srgbClr val="0F172A"/>
                </a:solidFill>
              </a:defRPr>
            </a:pPr>
            <a:r>
              <a:t>HTML Sanitizer</a:t>
            </a:r>
          </a:p>
          <a:p>
            <a:pPr>
              <a:spcBef>
                <a:spcPts val="400"/>
              </a:spcBef>
              <a:defRPr sz="900">
                <a:solidFill>
                  <a:srgbClr val="0F172A"/>
                </a:solidFill>
              </a:defRPr>
            </a:pPr>
            <a:r>
              <a:t>8 DQ Audit Rules</a:t>
            </a:r>
          </a:p>
        </p:txBody>
      </p:sp>
      <p:sp>
        <p:nvSpPr>
          <p:cNvPr id="10" name="Rounded Rectangle 9"/>
          <p:cNvSpPr/>
          <p:nvPr/>
        </p:nvSpPr>
        <p:spPr>
          <a:xfrm>
            <a:off x="5120640" y="1554480"/>
            <a:ext cx="2011680" cy="310896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30368" y="1691640"/>
            <a:ext cx="1792224" cy="2743200"/>
          </a:xfrm>
          <a:prstGeom prst="rect">
            <a:avLst/>
          </a:prstGeom>
          <a:noFill/>
        </p:spPr>
        <p:txBody>
          <a:bodyPr wrap="square">
            <a:spAutoFit/>
          </a:bodyPr>
          <a:lstStyle/>
          <a:p>
            <a:pPr>
              <a:defRPr sz="1100" b="1">
                <a:solidFill>
                  <a:srgbClr val="2563EB"/>
                </a:solidFill>
              </a:defRPr>
            </a:pPr>
            <a:r>
              <a:t>3. Relational Data</a:t>
            </a:r>
          </a:p>
          <a:p>
            <a:pPr>
              <a:spcBef>
                <a:spcPts val="400"/>
              </a:spcBef>
              <a:defRPr sz="900">
                <a:solidFill>
                  <a:srgbClr val="0F172A"/>
                </a:solidFill>
              </a:defRPr>
            </a:pPr>
            <a:r>
              <a:t>PostgreSQL / Supabase</a:t>
            </a:r>
          </a:p>
          <a:p>
            <a:pPr>
              <a:spcBef>
                <a:spcPts val="400"/>
              </a:spcBef>
              <a:defRPr sz="900">
                <a:solidFill>
                  <a:srgbClr val="0F172A"/>
                </a:solidFill>
              </a:defRPr>
            </a:pPr>
            <a:r>
              <a:t>12 Normalized Tables</a:t>
            </a:r>
          </a:p>
          <a:p>
            <a:pPr>
              <a:spcBef>
                <a:spcPts val="400"/>
              </a:spcBef>
              <a:defRPr sz="900">
                <a:solidFill>
                  <a:srgbClr val="0F172A"/>
                </a:solidFill>
              </a:defRPr>
            </a:pPr>
            <a:r>
              <a:t>Cascade Constraints</a:t>
            </a:r>
          </a:p>
          <a:p>
            <a:pPr>
              <a:spcBef>
                <a:spcPts val="400"/>
              </a:spcBef>
              <a:defRPr sz="900">
                <a:solidFill>
                  <a:srgbClr val="0F172A"/>
                </a:solidFill>
              </a:defRPr>
            </a:pPr>
            <a:r>
              <a:t>Asset Registry</a:t>
            </a:r>
          </a:p>
        </p:txBody>
      </p:sp>
      <p:sp>
        <p:nvSpPr>
          <p:cNvPr id="12" name="Rounded Rectangle 11"/>
          <p:cNvSpPr/>
          <p:nvPr/>
        </p:nvSpPr>
        <p:spPr>
          <a:xfrm>
            <a:off x="7315199" y="1554480"/>
            <a:ext cx="2011680" cy="310896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691640"/>
            <a:ext cx="1792224" cy="2743200"/>
          </a:xfrm>
          <a:prstGeom prst="rect">
            <a:avLst/>
          </a:prstGeom>
          <a:noFill/>
        </p:spPr>
        <p:txBody>
          <a:bodyPr wrap="square">
            <a:spAutoFit/>
          </a:bodyPr>
          <a:lstStyle/>
          <a:p>
            <a:pPr>
              <a:defRPr sz="1100" b="1">
                <a:solidFill>
                  <a:srgbClr val="10B981"/>
                </a:solidFill>
              </a:defRPr>
            </a:pPr>
            <a:r>
              <a:t>4. Vector &amp; Guardrail</a:t>
            </a:r>
          </a:p>
          <a:p>
            <a:pPr>
              <a:spcBef>
                <a:spcPts val="400"/>
              </a:spcBef>
              <a:defRPr sz="900">
                <a:solidFill>
                  <a:srgbClr val="0F172A"/>
                </a:solidFill>
              </a:defRPr>
            </a:pPr>
            <a:r>
              <a:t>Qdrant / pgvector</a:t>
            </a:r>
          </a:p>
          <a:p>
            <a:pPr>
              <a:spcBef>
                <a:spcPts val="400"/>
              </a:spcBef>
              <a:defRPr sz="900">
                <a:solidFill>
                  <a:srgbClr val="0F172A"/>
                </a:solidFill>
              </a:defRPr>
            </a:pPr>
            <a:r>
              <a:t>EvidenceValidator</a:t>
            </a:r>
          </a:p>
          <a:p>
            <a:pPr>
              <a:spcBef>
                <a:spcPts val="400"/>
              </a:spcBef>
              <a:defRPr sz="900">
                <a:solidFill>
                  <a:srgbClr val="0F172A"/>
                </a:solidFill>
              </a:defRPr>
            </a:pPr>
            <a:r>
              <a:t>Cosine Thresh &lt;= 0.40</a:t>
            </a:r>
          </a:p>
          <a:p>
            <a:pPr>
              <a:spcBef>
                <a:spcPts val="400"/>
              </a:spcBef>
              <a:defRPr sz="900">
                <a:solidFill>
                  <a:srgbClr val="0F172A"/>
                </a:solidFill>
              </a:defRPr>
            </a:pPr>
            <a:r>
              <a:t>Gemini 2.5 Flash</a:t>
            </a:r>
          </a:p>
        </p:txBody>
      </p:sp>
      <p:sp>
        <p:nvSpPr>
          <p:cNvPr id="14" name="Rounded Rectangle 13"/>
          <p:cNvSpPr/>
          <p:nvPr/>
        </p:nvSpPr>
        <p:spPr>
          <a:xfrm>
            <a:off x="9509760" y="1554480"/>
            <a:ext cx="2011680" cy="3108960"/>
          </a:xfrm>
          <a:prstGeom prst="roundRect">
            <a:avLst/>
          </a:prstGeom>
          <a:solidFill>
            <a:srgbClr val="F5F3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19488" y="1691640"/>
            <a:ext cx="1792224" cy="2743200"/>
          </a:xfrm>
          <a:prstGeom prst="rect">
            <a:avLst/>
          </a:prstGeom>
          <a:noFill/>
        </p:spPr>
        <p:txBody>
          <a:bodyPr wrap="square">
            <a:spAutoFit/>
          </a:bodyPr>
          <a:lstStyle/>
          <a:p>
            <a:pPr>
              <a:defRPr sz="1100" b="1">
                <a:solidFill>
                  <a:srgbClr val="8B5CF6"/>
                </a:solidFill>
              </a:defRPr>
            </a:pPr>
            <a:r>
              <a:t>5. API &amp; Edge Client</a:t>
            </a:r>
          </a:p>
          <a:p>
            <a:pPr>
              <a:spcBef>
                <a:spcPts val="400"/>
              </a:spcBef>
              <a:defRPr sz="900">
                <a:solidFill>
                  <a:srgbClr val="0F172A"/>
                </a:solidFill>
              </a:defRPr>
            </a:pPr>
            <a:r>
              <a:t>FastAPI Microservices</a:t>
            </a:r>
          </a:p>
          <a:p>
            <a:pPr>
              <a:spcBef>
                <a:spcPts val="400"/>
              </a:spcBef>
              <a:defRPr sz="900">
                <a:solidFill>
                  <a:srgbClr val="0F172A"/>
                </a:solidFill>
              </a:defRPr>
            </a:pPr>
            <a:r>
              <a:t>React 18 + Vite</a:t>
            </a:r>
          </a:p>
          <a:p>
            <a:pPr>
              <a:spcBef>
                <a:spcPts val="400"/>
              </a:spcBef>
              <a:defRPr sz="900">
                <a:solidFill>
                  <a:srgbClr val="0F172A"/>
                </a:solidFill>
              </a:defRPr>
            </a:pPr>
            <a:r>
              <a:t>Vercel Global Edge</a:t>
            </a:r>
          </a:p>
          <a:p>
            <a:pPr>
              <a:spcBef>
                <a:spcPts val="400"/>
              </a:spcBef>
              <a:defRPr sz="900">
                <a:solidFill>
                  <a:srgbClr val="0F172A"/>
                </a:solidFill>
              </a:defRPr>
            </a:pPr>
            <a:r>
              <a:t>0.289s Edge Latency</a:t>
            </a:r>
          </a:p>
        </p:txBody>
      </p:sp>
      <p:sp>
        <p:nvSpPr>
          <p:cNvPr id="16" name="Rounded Rectangle 15"/>
          <p:cNvSpPr/>
          <p:nvPr/>
        </p:nvSpPr>
        <p:spPr>
          <a:xfrm>
            <a:off x="731520" y="4937760"/>
            <a:ext cx="10698480" cy="13716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29200"/>
            <a:ext cx="10332720" cy="1188720"/>
          </a:xfrm>
          <a:prstGeom prst="rect">
            <a:avLst/>
          </a:prstGeom>
          <a:noFill/>
        </p:spPr>
        <p:txBody>
          <a:bodyPr wrap="square">
            <a:spAutoFit/>
          </a:bodyPr>
          <a:lstStyle/>
          <a:p>
            <a:pPr>
              <a:defRPr sz="1050" b="1">
                <a:solidFill>
                  <a:srgbClr val="2563EB"/>
                </a:solidFill>
              </a:defRPr>
            </a:pPr>
            <a:r>
              <a:t>ARCHITECTURAL INTEGRITY &amp; NON-FUNCTIONAL ATTRIBUTES</a:t>
            </a:r>
          </a:p>
          <a:p>
            <a:pPr>
              <a:spcBef>
                <a:spcPts val="200"/>
              </a:spcBef>
              <a:defRPr sz="850">
                <a:solidFill>
                  <a:srgbClr val="0F172A"/>
                </a:solidFill>
              </a:defRPr>
            </a:pPr>
            <a:r>
              <a:t>- Idempotency: Master pipeline runs safely without duplicate records or corrupting source datasets.</a:t>
            </a:r>
          </a:p>
          <a:p>
            <a:pPr>
              <a:spcBef>
                <a:spcPts val="200"/>
              </a:spcBef>
              <a:defRPr sz="850">
                <a:solidFill>
                  <a:srgbClr val="0F172A"/>
                </a:solidFill>
              </a:defRPr>
            </a:pPr>
            <a:r>
              <a:t>- Evidence Traceability: Every AI answer carries direct citation IDs mapped to exact video seconds.</a:t>
            </a:r>
          </a:p>
          <a:p>
            <a:pPr>
              <a:spcBef>
                <a:spcPts val="200"/>
              </a:spcBef>
              <a:defRPr sz="850">
                <a:solidFill>
                  <a:srgbClr val="0F172A"/>
                </a:solidFill>
              </a:defRPr>
            </a:pPr>
            <a:r>
              <a:t>- Scalability: Decoupled microservice design allows horizontal scaling across edge CDN and vector clusters.</a:t>
            </a:r>
          </a:p>
          <a:p>
            <a:pPr>
              <a:spcBef>
                <a:spcPts val="200"/>
              </a:spcBef>
              <a:defRPr sz="850">
                <a:solidFill>
                  <a:srgbClr val="0F172A"/>
                </a:solidFill>
              </a:defRPr>
            </a:pPr>
            <a:r>
              <a:t>- Anti-Hallucination: Rejects queries when evidence similarity is below 0.40 with explicit disclaimers.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DATA ENGINEERING</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Multimodal Preprocessing &amp; Quality Engine</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Automated normalization across SRT captions, TXT transcripts, HTML readings, and MP4 videos</a:t>
            </a:r>
          </a:p>
        </p:txBody>
      </p:sp>
      <p:sp>
        <p:nvSpPr>
          <p:cNvPr id="6" name="Rounded Rectangle 5"/>
          <p:cNvSpPr/>
          <p:nvPr/>
        </p:nvSpPr>
        <p:spPr>
          <a:xfrm>
            <a:off x="731520" y="146304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73152" cy="2240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92040" cy="1965960"/>
          </a:xfrm>
          <a:prstGeom prst="rect">
            <a:avLst/>
          </a:prstGeom>
          <a:noFill/>
        </p:spPr>
        <p:txBody>
          <a:bodyPr wrap="square">
            <a:spAutoFit/>
          </a:bodyPr>
          <a:lstStyle/>
          <a:p>
            <a:pPr>
              <a:defRPr sz="1200" b="1">
                <a:solidFill>
                  <a:srgbClr val="0F172A"/>
                </a:solidFill>
              </a:defRPr>
            </a:pPr>
            <a:r>
              <a:t>SRT Subtitle Parser</a:t>
            </a:r>
          </a:p>
          <a:p>
            <a:pPr>
              <a:spcBef>
                <a:spcPts val="200"/>
              </a:spcBef>
              <a:defRPr sz="850" b="1">
                <a:solidFill>
                  <a:srgbClr val="2563EB"/>
                </a:solidFill>
              </a:defRPr>
            </a:pPr>
            <a:r>
              <a:t>Script: preprocessing/process_srt.py</a:t>
            </a:r>
          </a:p>
          <a:p>
            <a:pPr>
              <a:spcBef>
                <a:spcPts val="400"/>
              </a:spcBef>
              <a:defRPr sz="850">
                <a:solidFill>
                  <a:srgbClr val="64748B"/>
                </a:solidFill>
              </a:defRPr>
            </a:pPr>
            <a:r>
              <a:t>Parses raw SRT subtitles, validates start &lt; end timestamps, eliminates formatting artifacts, enforces 100ms caption monotonicity.</a:t>
            </a:r>
          </a:p>
          <a:p>
            <a:pPr>
              <a:spcBef>
                <a:spcPts val="400"/>
              </a:spcBef>
              <a:defRPr sz="850" b="1">
                <a:solidFill>
                  <a:srgbClr val="0F172A"/>
                </a:solidFill>
              </a:defRPr>
            </a:pPr>
            <a:r>
              <a:t>Result: 45 files -&gt; 3,280 segments | 0 invalid timestamps</a:t>
            </a:r>
          </a:p>
        </p:txBody>
      </p:sp>
      <p:sp>
        <p:nvSpPr>
          <p:cNvPr id="9" name="Rounded Rectangle 8"/>
          <p:cNvSpPr/>
          <p:nvPr/>
        </p:nvSpPr>
        <p:spPr>
          <a:xfrm>
            <a:off x="6172200" y="146304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463040"/>
            <a:ext cx="73152" cy="22402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00200"/>
            <a:ext cx="4892040" cy="1965960"/>
          </a:xfrm>
          <a:prstGeom prst="rect">
            <a:avLst/>
          </a:prstGeom>
          <a:noFill/>
        </p:spPr>
        <p:txBody>
          <a:bodyPr wrap="square">
            <a:spAutoFit/>
          </a:bodyPr>
          <a:lstStyle/>
          <a:p>
            <a:pPr>
              <a:defRPr sz="1200" b="1">
                <a:solidFill>
                  <a:srgbClr val="0F172A"/>
                </a:solidFill>
              </a:defRPr>
            </a:pPr>
            <a:r>
              <a:t>Semantic Chunker</a:t>
            </a:r>
          </a:p>
          <a:p>
            <a:pPr>
              <a:spcBef>
                <a:spcPts val="200"/>
              </a:spcBef>
              <a:defRPr sz="850" b="1">
                <a:solidFill>
                  <a:srgbClr val="10B981"/>
                </a:solidFill>
              </a:defRPr>
            </a:pPr>
            <a:r>
              <a:t>Script: preprocessing/process_txt.py</a:t>
            </a:r>
          </a:p>
          <a:p>
            <a:pPr>
              <a:spcBef>
                <a:spcPts val="400"/>
              </a:spcBef>
              <a:defRPr sz="850">
                <a:solidFill>
                  <a:srgbClr val="64748B"/>
                </a:solidFill>
              </a:defRPr>
            </a:pPr>
            <a:r>
              <a:t>Performs sentence-boundary token chunking targeting ~500 tokens. Aligns chunks to SRT timestamps for multi-modal synchronization.</a:t>
            </a:r>
          </a:p>
          <a:p>
            <a:pPr>
              <a:spcBef>
                <a:spcPts val="400"/>
              </a:spcBef>
              <a:defRPr sz="850" b="1">
                <a:solidFill>
                  <a:srgbClr val="0F172A"/>
                </a:solidFill>
              </a:defRPr>
            </a:pPr>
            <a:r>
              <a:t>Result: 102 chunks generated | 387 token average</a:t>
            </a:r>
          </a:p>
        </p:txBody>
      </p:sp>
      <p:sp>
        <p:nvSpPr>
          <p:cNvPr id="12" name="Rounded Rectangle 11"/>
          <p:cNvSpPr/>
          <p:nvPr/>
        </p:nvSpPr>
        <p:spPr>
          <a:xfrm>
            <a:off x="731520" y="388620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86200"/>
            <a:ext cx="73152" cy="22402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3360"/>
            <a:ext cx="4892040" cy="1965960"/>
          </a:xfrm>
          <a:prstGeom prst="rect">
            <a:avLst/>
          </a:prstGeom>
          <a:noFill/>
        </p:spPr>
        <p:txBody>
          <a:bodyPr wrap="square">
            <a:spAutoFit/>
          </a:bodyPr>
          <a:lstStyle/>
          <a:p>
            <a:pPr>
              <a:defRPr sz="1200" b="1">
                <a:solidFill>
                  <a:srgbClr val="0F172A"/>
                </a:solidFill>
              </a:defRPr>
            </a:pPr>
            <a:r>
              <a:t>HTML Reading Cleaner</a:t>
            </a:r>
          </a:p>
          <a:p>
            <a:pPr>
              <a:spcBef>
                <a:spcPts val="200"/>
              </a:spcBef>
              <a:defRPr sz="850" b="1">
                <a:solidFill>
                  <a:srgbClr val="8B5CF6"/>
                </a:solidFill>
              </a:defRPr>
            </a:pPr>
            <a:r>
              <a:t>Script: preprocessing/process_html.py</a:t>
            </a:r>
          </a:p>
          <a:p>
            <a:pPr>
              <a:spcBef>
                <a:spcPts val="400"/>
              </a:spcBef>
              <a:defRPr sz="850">
                <a:solidFill>
                  <a:srgbClr val="64748B"/>
                </a:solidFill>
              </a:defRPr>
            </a:pPr>
            <a:r>
              <a:t>Cleans raw DOM, removes scripts/styles, extracts base64 embedded diagrams into separate assets, and classifies reading subtypes.</a:t>
            </a:r>
          </a:p>
          <a:p>
            <a:pPr>
              <a:spcBef>
                <a:spcPts val="400"/>
              </a:spcBef>
              <a:defRPr sz="850" b="1">
                <a:solidFill>
                  <a:srgbClr val="0F172A"/>
                </a:solidFill>
              </a:defRPr>
            </a:pPr>
            <a:r>
              <a:t>Result: 22 readings classified | Overview, Summary, Syllabus</a:t>
            </a:r>
          </a:p>
        </p:txBody>
      </p:sp>
      <p:sp>
        <p:nvSpPr>
          <p:cNvPr id="15" name="Rounded Rectangle 14"/>
          <p:cNvSpPr/>
          <p:nvPr/>
        </p:nvSpPr>
        <p:spPr>
          <a:xfrm>
            <a:off x="6172200" y="3886200"/>
            <a:ext cx="5257800" cy="2240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886200"/>
            <a:ext cx="73152" cy="2240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023360"/>
            <a:ext cx="4892040" cy="1965960"/>
          </a:xfrm>
          <a:prstGeom prst="rect">
            <a:avLst/>
          </a:prstGeom>
          <a:noFill/>
        </p:spPr>
        <p:txBody>
          <a:bodyPr wrap="square">
            <a:spAutoFit/>
          </a:bodyPr>
          <a:lstStyle/>
          <a:p>
            <a:pPr>
              <a:defRPr sz="1200" b="1">
                <a:solidFill>
                  <a:srgbClr val="0F172A"/>
                </a:solidFill>
              </a:defRPr>
            </a:pPr>
            <a:r>
              <a:t>Video Inspector</a:t>
            </a:r>
          </a:p>
          <a:p>
            <a:pPr>
              <a:spcBef>
                <a:spcPts val="200"/>
              </a:spcBef>
              <a:defRPr sz="850" b="1">
                <a:solidFill>
                  <a:srgbClr val="F59E0B"/>
                </a:solidFill>
              </a:defRPr>
            </a:pPr>
            <a:r>
              <a:t>Script: preprocessing/process_videos.py</a:t>
            </a:r>
          </a:p>
          <a:p>
            <a:pPr>
              <a:spcBef>
                <a:spcPts val="400"/>
              </a:spcBef>
              <a:defRPr sz="850">
                <a:solidFill>
                  <a:srgbClr val="64748B"/>
                </a:solidFill>
              </a:defRPr>
            </a:pPr>
            <a:r>
              <a:t>Executes ffprobe to extract video resolution, H.264 video codec, AAC audio codec, fps, bitrates, and segments without re-encoding.</a:t>
            </a:r>
          </a:p>
          <a:p>
            <a:pPr>
              <a:spcBef>
                <a:spcPts val="400"/>
              </a:spcBef>
              <a:defRPr sz="850" b="1">
                <a:solidFill>
                  <a:srgbClr val="0F172A"/>
                </a:solidFill>
              </a:defRPr>
            </a:pPr>
            <a:r>
              <a:t>Result: 45 video streams cataloged | 100% audio verified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DATA PERSISTENCE</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Database Architecture &amp; 12-Table Relational Schema</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Full 3NF normalization in PostgreSQL / Supabase with strict referential constraints</a:t>
            </a:r>
          </a:p>
        </p:txBody>
      </p:sp>
      <p:sp>
        <p:nvSpPr>
          <p:cNvPr id="6" name="Rounded Rectangle 5"/>
          <p:cNvSpPr/>
          <p:nvPr/>
        </p:nvSpPr>
        <p:spPr>
          <a:xfrm>
            <a:off x="731520" y="1463040"/>
            <a:ext cx="3474720" cy="484632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145536" cy="4572000"/>
          </a:xfrm>
          <a:prstGeom prst="rect">
            <a:avLst/>
          </a:prstGeom>
          <a:noFill/>
        </p:spPr>
        <p:txBody>
          <a:bodyPr wrap="square">
            <a:spAutoFit/>
          </a:bodyPr>
          <a:lstStyle/>
          <a:p>
            <a:pPr>
              <a:defRPr sz="1100" b="1">
                <a:solidFill>
                  <a:srgbClr val="2563EB"/>
                </a:solidFill>
              </a:defRPr>
            </a:pPr>
            <a:r>
              <a:t>COURSE HIERARCHY</a:t>
            </a:r>
          </a:p>
          <a:p>
            <a:pPr>
              <a:spcBef>
                <a:spcPts val="600"/>
              </a:spcBef>
              <a:defRPr sz="950" b="1">
                <a:solidFill>
                  <a:srgbClr val="0F172A"/>
                </a:solidFill>
              </a:defRPr>
            </a:pPr>
            <a:r>
              <a:t>• courses</a:t>
            </a:r>
          </a:p>
          <a:p>
            <a:pPr>
              <a:spcBef>
                <a:spcPts val="100"/>
              </a:spcBef>
              <a:defRPr sz="800">
                <a:solidFill>
                  <a:srgbClr val="64748B"/>
                </a:solidFill>
              </a:defRPr>
            </a:pPr>
            <a:r>
              <a:t>  Top-level course container (slug, name, source, total_assets)</a:t>
            </a:r>
          </a:p>
          <a:p>
            <a:pPr>
              <a:spcBef>
                <a:spcPts val="600"/>
              </a:spcBef>
              <a:defRPr sz="950" b="1">
                <a:solidFill>
                  <a:srgbClr val="0F172A"/>
                </a:solidFill>
              </a:defRPr>
            </a:pPr>
            <a:r>
              <a:t>• course_modules</a:t>
            </a:r>
          </a:p>
          <a:p>
            <a:pPr>
              <a:spcBef>
                <a:spcPts val="100"/>
              </a:spcBef>
              <a:defRPr sz="800">
                <a:solidFill>
                  <a:srgbClr val="64748B"/>
                </a:solidFill>
              </a:defRPr>
            </a:pPr>
            <a:r>
              <a:t>  Module definitions (module_number, module_title, sort_order)</a:t>
            </a:r>
          </a:p>
          <a:p>
            <a:pPr>
              <a:spcBef>
                <a:spcPts val="600"/>
              </a:spcBef>
              <a:defRPr sz="950" b="1">
                <a:solidFill>
                  <a:srgbClr val="0F172A"/>
                </a:solidFill>
              </a:defRPr>
            </a:pPr>
            <a:r>
              <a:t>• lesson_groups</a:t>
            </a:r>
          </a:p>
          <a:p>
            <a:pPr>
              <a:spcBef>
                <a:spcPts val="100"/>
              </a:spcBef>
              <a:defRPr sz="800">
                <a:solidFill>
                  <a:srgbClr val="64748B"/>
                </a:solidFill>
              </a:defRPr>
            </a:pPr>
            <a:r>
              <a:t>  Weekly / sectional groupings (group_number, group_title)</a:t>
            </a:r>
          </a:p>
          <a:p>
            <a:pPr>
              <a:spcBef>
                <a:spcPts val="600"/>
              </a:spcBef>
              <a:defRPr sz="950" b="1">
                <a:solidFill>
                  <a:srgbClr val="0F172A"/>
                </a:solidFill>
              </a:defRPr>
            </a:pPr>
            <a:r>
              <a:t>• lessons</a:t>
            </a:r>
          </a:p>
          <a:p>
            <a:pPr>
              <a:spcBef>
                <a:spcPts val="100"/>
              </a:spcBef>
              <a:defRPr sz="800">
                <a:solidFill>
                  <a:srgbClr val="64748B"/>
                </a:solidFill>
              </a:defRPr>
            </a:pPr>
            <a:r>
              <a:t>  Atomic instructional units (lesson_slug, lesson_type, is_summary)</a:t>
            </a:r>
          </a:p>
        </p:txBody>
      </p:sp>
      <p:sp>
        <p:nvSpPr>
          <p:cNvPr id="8" name="Rounded Rectangle 7"/>
          <p:cNvSpPr/>
          <p:nvPr/>
        </p:nvSpPr>
        <p:spPr>
          <a:xfrm>
            <a:off x="4343400" y="1463040"/>
            <a:ext cx="3474720" cy="484632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00200"/>
            <a:ext cx="3145536" cy="4572000"/>
          </a:xfrm>
          <a:prstGeom prst="rect">
            <a:avLst/>
          </a:prstGeom>
          <a:noFill/>
        </p:spPr>
        <p:txBody>
          <a:bodyPr wrap="square">
            <a:spAutoFit/>
          </a:bodyPr>
          <a:lstStyle/>
          <a:p>
            <a:pPr>
              <a:defRPr sz="1100" b="1">
                <a:solidFill>
                  <a:srgbClr val="10B981"/>
                </a:solidFill>
              </a:defRPr>
            </a:pPr>
            <a:r>
              <a:t>ASSET REGISTRY &amp; MEDIA</a:t>
            </a:r>
          </a:p>
          <a:p>
            <a:pPr>
              <a:spcBef>
                <a:spcPts val="600"/>
              </a:spcBef>
              <a:defRPr sz="950" b="1">
                <a:solidFill>
                  <a:srgbClr val="0F172A"/>
                </a:solidFill>
              </a:defRPr>
            </a:pPr>
            <a:r>
              <a:t>• assets</a:t>
            </a:r>
          </a:p>
          <a:p>
            <a:pPr>
              <a:spcBef>
                <a:spcPts val="100"/>
              </a:spcBef>
              <a:defRPr sz="800">
                <a:solidFill>
                  <a:srgbClr val="64748B"/>
                </a:solidFill>
              </a:defRPr>
            </a:pPr>
            <a:r>
              <a:t>  Central polymorphic registry for all files with SHA-256 hashes</a:t>
            </a:r>
          </a:p>
          <a:p>
            <a:pPr>
              <a:spcBef>
                <a:spcPts val="600"/>
              </a:spcBef>
              <a:defRPr sz="950" b="1">
                <a:solidFill>
                  <a:srgbClr val="0F172A"/>
                </a:solidFill>
              </a:defRPr>
            </a:pPr>
            <a:r>
              <a:t>• videos</a:t>
            </a:r>
          </a:p>
          <a:p>
            <a:pPr>
              <a:spcBef>
                <a:spcPts val="100"/>
              </a:spcBef>
              <a:defRPr sz="800">
                <a:solidFill>
                  <a:srgbClr val="64748B"/>
                </a:solidFill>
              </a:defRPr>
            </a:pPr>
            <a:r>
              <a:t>  1:1 with assets; video codec, resolution, duration, bit_rate</a:t>
            </a:r>
          </a:p>
          <a:p>
            <a:pPr>
              <a:spcBef>
                <a:spcPts val="600"/>
              </a:spcBef>
              <a:defRPr sz="950" b="1">
                <a:solidFill>
                  <a:srgbClr val="0F172A"/>
                </a:solidFill>
              </a:defRPr>
            </a:pPr>
            <a:r>
              <a:t>• video_segments</a:t>
            </a:r>
          </a:p>
          <a:p>
            <a:pPr>
              <a:spcBef>
                <a:spcPts val="100"/>
              </a:spcBef>
              <a:defRPr sz="800">
                <a:solidFill>
                  <a:srgbClr val="64748B"/>
                </a:solidFill>
              </a:defRPr>
            </a:pPr>
            <a:r>
              <a:t>  Temporal chunks with timestamps &amp; VECTOR(1536)</a:t>
            </a:r>
          </a:p>
          <a:p>
            <a:pPr>
              <a:spcBef>
                <a:spcPts val="600"/>
              </a:spcBef>
              <a:defRPr sz="950" b="1">
                <a:solidFill>
                  <a:srgbClr val="0F172A"/>
                </a:solidFill>
              </a:defRPr>
            </a:pPr>
            <a:r>
              <a:t>• transcripts</a:t>
            </a:r>
          </a:p>
          <a:p>
            <a:pPr>
              <a:spcBef>
                <a:spcPts val="100"/>
              </a:spcBef>
              <a:defRPr sz="800">
                <a:solidFill>
                  <a:srgbClr val="64748B"/>
                </a:solidFill>
              </a:defRPr>
            </a:pPr>
            <a:r>
              <a:t>  Dual format tracking (SRT vs TXT) with cleaned text</a:t>
            </a:r>
          </a:p>
          <a:p>
            <a:pPr>
              <a:spcBef>
                <a:spcPts val="600"/>
              </a:spcBef>
              <a:defRPr sz="950" b="1">
                <a:solidFill>
                  <a:srgbClr val="0F172A"/>
                </a:solidFill>
              </a:defRPr>
            </a:pPr>
            <a:r>
              <a:t>• transcript_segments</a:t>
            </a:r>
          </a:p>
          <a:p>
            <a:pPr>
              <a:spcBef>
                <a:spcPts val="100"/>
              </a:spcBef>
              <a:defRPr sz="800">
                <a:solidFill>
                  <a:srgbClr val="64748B"/>
                </a:solidFill>
              </a:defRPr>
            </a:pPr>
            <a:r>
              <a:t>  Sentence chunks with start/end characters &amp; embeddings</a:t>
            </a:r>
          </a:p>
          <a:p>
            <a:pPr>
              <a:spcBef>
                <a:spcPts val="600"/>
              </a:spcBef>
              <a:defRPr sz="950" b="1">
                <a:solidFill>
                  <a:srgbClr val="0F172A"/>
                </a:solidFill>
              </a:defRPr>
            </a:pPr>
            <a:r>
              <a:t>• readings</a:t>
            </a:r>
          </a:p>
          <a:p>
            <a:pPr>
              <a:spcBef>
                <a:spcPts val="100"/>
              </a:spcBef>
              <a:defRPr sz="800">
                <a:solidFill>
                  <a:srgbClr val="64748B"/>
                </a:solidFill>
              </a:defRPr>
            </a:pPr>
            <a:r>
              <a:t>  Cleaned HTML pages, reading subtypes, extracted text</a:t>
            </a:r>
          </a:p>
        </p:txBody>
      </p:sp>
      <p:sp>
        <p:nvSpPr>
          <p:cNvPr id="10" name="Rounded Rectangle 9"/>
          <p:cNvSpPr/>
          <p:nvPr/>
        </p:nvSpPr>
        <p:spPr>
          <a:xfrm>
            <a:off x="7955280" y="1463040"/>
            <a:ext cx="3474720" cy="4846320"/>
          </a:xfrm>
          <a:prstGeom prst="roundRect">
            <a:avLst/>
          </a:prstGeom>
          <a:solidFill>
            <a:srgbClr val="F5F3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1600200"/>
            <a:ext cx="3145536" cy="4572000"/>
          </a:xfrm>
          <a:prstGeom prst="rect">
            <a:avLst/>
          </a:prstGeom>
          <a:noFill/>
        </p:spPr>
        <p:txBody>
          <a:bodyPr wrap="square">
            <a:spAutoFit/>
          </a:bodyPr>
          <a:lstStyle/>
          <a:p>
            <a:pPr>
              <a:defRPr sz="1100" b="1">
                <a:solidFill>
                  <a:srgbClr val="8B5CF6"/>
                </a:solidFill>
              </a:defRPr>
            </a:pPr>
            <a:r>
              <a:t>OBSERVABILITY &amp; QA</a:t>
            </a:r>
          </a:p>
          <a:p>
            <a:pPr>
              <a:spcBef>
                <a:spcPts val="600"/>
              </a:spcBef>
              <a:defRPr sz="950" b="1">
                <a:solidFill>
                  <a:srgbClr val="0F172A"/>
                </a:solidFill>
              </a:defRPr>
            </a:pPr>
            <a:r>
              <a:t>• processing_jobs</a:t>
            </a:r>
          </a:p>
          <a:p>
            <a:pPr>
              <a:spcBef>
                <a:spcPts val="100"/>
              </a:spcBef>
              <a:defRPr sz="800">
                <a:solidFill>
                  <a:srgbClr val="64748B"/>
                </a:solidFill>
              </a:defRPr>
            </a:pPr>
            <a:r>
              <a:t>  State machine: tracks ingestion stages, runtime ms, errors</a:t>
            </a:r>
          </a:p>
          <a:p>
            <a:pPr>
              <a:spcBef>
                <a:spcPts val="600"/>
              </a:spcBef>
              <a:defRPr sz="950" b="1">
                <a:solidFill>
                  <a:srgbClr val="0F172A"/>
                </a:solidFill>
              </a:defRPr>
            </a:pPr>
            <a:r>
              <a:t>• data_quality_issues</a:t>
            </a:r>
          </a:p>
          <a:p>
            <a:pPr>
              <a:spcBef>
                <a:spcPts val="100"/>
              </a:spcBef>
              <a:defRPr sz="800">
                <a:solidFill>
                  <a:srgbClr val="64748B"/>
                </a:solidFill>
              </a:defRPr>
            </a:pPr>
            <a:r>
              <a:t>  Audit log: 8 DQ rules, severity ratings (CRITICAL to 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ARTIFICIAL INTELLIGENCE</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Evidence-Grounded RAG &amp; Anti-Hallucination Guardrail</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Strict citation enforcement, cosine thresholding, and verifiable educational synthesis</a:t>
            </a:r>
          </a:p>
        </p:txBody>
      </p:sp>
      <p:sp>
        <p:nvSpPr>
          <p:cNvPr id="6" name="Rounded Rectangle 5"/>
          <p:cNvSpPr/>
          <p:nvPr/>
        </p:nvSpPr>
        <p:spPr>
          <a:xfrm>
            <a:off x="7315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4572000"/>
          </a:xfrm>
          <a:prstGeom prst="rect">
            <a:avLst/>
          </a:prstGeom>
          <a:noFill/>
        </p:spPr>
        <p:txBody>
          <a:bodyPr wrap="square">
            <a:spAutoFit/>
          </a:bodyPr>
          <a:lstStyle/>
          <a:p>
            <a:pPr>
              <a:defRPr sz="1200" b="1">
                <a:solidFill>
                  <a:srgbClr val="2563EB"/>
                </a:solidFill>
              </a:defRPr>
            </a:pPr>
            <a:r>
              <a:t>HOW THE GUARDRAIL GUARANTEES TRUTH</a:t>
            </a:r>
          </a:p>
          <a:p>
            <a:pPr>
              <a:spcBef>
                <a:spcPts val="800"/>
              </a:spcBef>
              <a:defRPr sz="950" b="1">
                <a:solidFill>
                  <a:srgbClr val="10B981"/>
                </a:solidFill>
              </a:defRPr>
            </a:pPr>
            <a:r>
              <a:t>✔ Dense Retrieval &amp; Thresholding: </a:t>
            </a:r>
            <a:r>
              <a:rPr b="0">
                <a:solidFill>
                  <a:srgbClr val="0F172A"/>
                </a:solidFill>
              </a:rPr>
              <a:t>Searches top-5 chunks using cosine similarity. If highest similarity is &lt; 0.40, the system rejects speculation with an explicit insufficient evidence notice.</a:t>
            </a:r>
          </a:p>
          <a:p>
            <a:pPr>
              <a:spcBef>
                <a:spcPts val="800"/>
              </a:spcBef>
              <a:defRPr sz="950" b="1">
                <a:solidFill>
                  <a:srgbClr val="10B981"/>
                </a:solidFill>
              </a:defRPr>
            </a:pPr>
            <a:r>
              <a:t>✔ Citation Token Injection: </a:t>
            </a:r>
            <a:r>
              <a:rPr b="0">
                <a:solidFill>
                  <a:srgbClr val="0F172A"/>
                </a:solidFill>
              </a:rPr>
              <a:t>Retrieved evidence is tagged with synthetic IDs (E1, E2, E3). The LLM is instructed to ONLY cite these verified IDs.</a:t>
            </a:r>
          </a:p>
          <a:p>
            <a:pPr>
              <a:spcBef>
                <a:spcPts val="800"/>
              </a:spcBef>
              <a:defRPr sz="950" b="1">
                <a:solidFill>
                  <a:srgbClr val="10B981"/>
                </a:solidFill>
              </a:defRPr>
            </a:pPr>
            <a:r>
              <a:t>✔ Strict EvidenceValidator Inspection: </a:t>
            </a:r>
            <a:r>
              <a:rPr b="0">
                <a:solidFill>
                  <a:srgbClr val="0F172A"/>
                </a:solidFill>
              </a:rPr>
              <a:t>Before returning to the user, EvidenceValidator checks that 100% of cited evidence IDs exist in the retrieved pool.</a:t>
            </a:r>
          </a:p>
          <a:p>
            <a:pPr>
              <a:spcBef>
                <a:spcPts val="800"/>
              </a:spcBef>
              <a:defRPr sz="950" b="1">
                <a:solidFill>
                  <a:srgbClr val="10B981"/>
                </a:solidFill>
              </a:defRPr>
            </a:pPr>
            <a:r>
              <a:t>✔ Zero Tolerance for Hallucinations: </a:t>
            </a:r>
            <a:r>
              <a:rPr b="0">
                <a:solidFill>
                  <a:srgbClr val="0F172A"/>
                </a:solidFill>
              </a:rPr>
              <a:t>If the LLM generates a fake evidence ID (e.g. 'fake-evidence-999'), the validator throws an immediate exception, completely blocking hallucinated output.</a:t>
            </a:r>
          </a:p>
        </p:txBody>
      </p:sp>
      <p:pic>
        <p:nvPicPr>
          <p:cNvPr id="8" name="Picture 7" descr="chat_assistant_response_1790902027130.png"/>
          <p:cNvPicPr>
            <a:picLocks noChangeAspect="1"/>
          </p:cNvPicPr>
          <p:nvPr/>
        </p:nvPicPr>
        <p:blipFill>
          <a:blip r:embed="rId2"/>
          <a:stretch>
            <a:fillRect/>
          </a:stretch>
        </p:blipFill>
        <p:spPr>
          <a:xfrm>
            <a:off x="6217920" y="1463040"/>
            <a:ext cx="5212080" cy="4846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BACKEND ARCHITECTURE</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FastAPI Microservices &amp; Asynchronous REST API</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High-throughput asynchronous endpoints with Pydantic serialization &amp; dependency injection</a:t>
            </a:r>
          </a:p>
        </p:txBody>
      </p:sp>
      <p:sp>
        <p:nvSpPr>
          <p:cNvPr id="6" name="Rounded Rectangle 5"/>
          <p:cNvSpPr/>
          <p:nvPr/>
        </p:nvSpPr>
        <p:spPr>
          <a:xfrm>
            <a:off x="731520" y="1463040"/>
            <a:ext cx="525780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72768"/>
            <a:ext cx="4928616" cy="1243584"/>
          </a:xfrm>
          <a:prstGeom prst="rect">
            <a:avLst/>
          </a:prstGeom>
          <a:noFill/>
        </p:spPr>
        <p:txBody>
          <a:bodyPr wrap="square">
            <a:spAutoFit/>
          </a:bodyPr>
          <a:lstStyle/>
          <a:p>
            <a:pPr>
              <a:defRPr sz="1100" b="1">
                <a:solidFill>
                  <a:srgbClr val="2563EB"/>
                </a:solidFill>
              </a:defRPr>
            </a:pPr>
            <a:r>
              <a:t>GET /courses/</a:t>
            </a:r>
          </a:p>
          <a:p>
            <a:pPr>
              <a:spcBef>
                <a:spcPts val="300"/>
              </a:spcBef>
              <a:defRPr sz="850">
                <a:solidFill>
                  <a:srgbClr val="0F172A"/>
                </a:solidFill>
              </a:defRPr>
            </a:pPr>
            <a:r>
              <a:t>Courses Router | Lists all registered courses, provider origin, status, and creation timestamps.</a:t>
            </a:r>
          </a:p>
          <a:p>
            <a:pPr>
              <a:spcBef>
                <a:spcPts val="300"/>
              </a:spcBef>
              <a:defRPr sz="800" b="1">
                <a:solidFill>
                  <a:srgbClr val="10B981"/>
                </a:solidFill>
              </a:defRPr>
            </a:pPr>
            <a:r>
              <a:t>Status: 200 OK | Fast DB Query</a:t>
            </a:r>
          </a:p>
        </p:txBody>
      </p:sp>
      <p:sp>
        <p:nvSpPr>
          <p:cNvPr id="8" name="Rounded Rectangle 7"/>
          <p:cNvSpPr/>
          <p:nvPr/>
        </p:nvSpPr>
        <p:spPr>
          <a:xfrm>
            <a:off x="6172200" y="1463040"/>
            <a:ext cx="525780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1572768"/>
            <a:ext cx="4928616" cy="1243584"/>
          </a:xfrm>
          <a:prstGeom prst="rect">
            <a:avLst/>
          </a:prstGeom>
          <a:noFill/>
        </p:spPr>
        <p:txBody>
          <a:bodyPr wrap="square">
            <a:spAutoFit/>
          </a:bodyPr>
          <a:lstStyle/>
          <a:p>
            <a:pPr>
              <a:defRPr sz="1100" b="1">
                <a:solidFill>
                  <a:srgbClr val="2563EB"/>
                </a:solidFill>
              </a:defRPr>
            </a:pPr>
            <a:r>
              <a:t>POST /courses/analyze</a:t>
            </a:r>
          </a:p>
          <a:p>
            <a:pPr>
              <a:spcBef>
                <a:spcPts val="300"/>
              </a:spcBef>
              <a:defRPr sz="850">
                <a:solidFill>
                  <a:srgbClr val="0F172A"/>
                </a:solidFill>
              </a:defRPr>
            </a:pPr>
            <a:r>
              <a:t>Ingestion Router | Initiates asynchronous course extraction and creates multi-stage processing jobs.</a:t>
            </a:r>
          </a:p>
          <a:p>
            <a:pPr>
              <a:spcBef>
                <a:spcPts val="300"/>
              </a:spcBef>
              <a:defRPr sz="800" b="1">
                <a:solidFill>
                  <a:srgbClr val="10B981"/>
                </a:solidFill>
              </a:defRPr>
            </a:pPr>
            <a:r>
              <a:t>Returns: job_id &amp; initial status</a:t>
            </a:r>
          </a:p>
        </p:txBody>
      </p:sp>
      <p:sp>
        <p:nvSpPr>
          <p:cNvPr id="10" name="Rounded Rectangle 9"/>
          <p:cNvSpPr/>
          <p:nvPr/>
        </p:nvSpPr>
        <p:spPr>
          <a:xfrm>
            <a:off x="731520" y="3063240"/>
            <a:ext cx="525780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172968"/>
            <a:ext cx="4928616" cy="1243584"/>
          </a:xfrm>
          <a:prstGeom prst="rect">
            <a:avLst/>
          </a:prstGeom>
          <a:noFill/>
        </p:spPr>
        <p:txBody>
          <a:bodyPr wrap="square">
            <a:spAutoFit/>
          </a:bodyPr>
          <a:lstStyle/>
          <a:p>
            <a:pPr>
              <a:defRPr sz="1100" b="1">
                <a:solidFill>
                  <a:srgbClr val="2563EB"/>
                </a:solidFill>
              </a:defRPr>
            </a:pPr>
            <a:r>
              <a:t>GET /courses/{id}/status</a:t>
            </a:r>
          </a:p>
          <a:p>
            <a:pPr>
              <a:spcBef>
                <a:spcPts val="300"/>
              </a:spcBef>
              <a:defRPr sz="850">
                <a:solidFill>
                  <a:srgbClr val="0F172A"/>
                </a:solidFill>
              </a:defRPr>
            </a:pPr>
            <a:r>
              <a:t>Lifecycle Router | Real-time pipeline monitoring: Ingestion -&gt; Parsing -&gt; Quality Checks -&gt; Vector Indexing.</a:t>
            </a:r>
          </a:p>
          <a:p>
            <a:pPr>
              <a:spcBef>
                <a:spcPts val="300"/>
              </a:spcBef>
              <a:defRPr sz="800" b="1">
                <a:solidFill>
                  <a:srgbClr val="10B981"/>
                </a:solidFill>
              </a:defRPr>
            </a:pPr>
            <a:r>
              <a:t>Returns: Per-stage status array</a:t>
            </a:r>
          </a:p>
        </p:txBody>
      </p:sp>
      <p:sp>
        <p:nvSpPr>
          <p:cNvPr id="12" name="Rounded Rectangle 11"/>
          <p:cNvSpPr/>
          <p:nvPr/>
        </p:nvSpPr>
        <p:spPr>
          <a:xfrm>
            <a:off x="6172200" y="3063240"/>
            <a:ext cx="525780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172968"/>
            <a:ext cx="4928616" cy="1243584"/>
          </a:xfrm>
          <a:prstGeom prst="rect">
            <a:avLst/>
          </a:prstGeom>
          <a:noFill/>
        </p:spPr>
        <p:txBody>
          <a:bodyPr wrap="square">
            <a:spAutoFit/>
          </a:bodyPr>
          <a:lstStyle/>
          <a:p>
            <a:pPr>
              <a:defRPr sz="1100" b="1">
                <a:solidFill>
                  <a:srgbClr val="2563EB"/>
                </a:solidFill>
              </a:defRPr>
            </a:pPr>
            <a:r>
              <a:t>POST /chat/query</a:t>
            </a:r>
          </a:p>
          <a:p>
            <a:pPr>
              <a:spcBef>
                <a:spcPts val="300"/>
              </a:spcBef>
              <a:defRPr sz="850">
                <a:solidFill>
                  <a:srgbClr val="0F172A"/>
                </a:solidFill>
              </a:defRPr>
            </a:pPr>
            <a:r>
              <a:t>Conversational RAG Router | Processes user queries through dense vector retriever, threshold filter, and synthesizer.</a:t>
            </a:r>
          </a:p>
          <a:p>
            <a:pPr>
              <a:spcBef>
                <a:spcPts val="300"/>
              </a:spcBef>
              <a:defRPr sz="800" b="1">
                <a:solidFill>
                  <a:srgbClr val="10B981"/>
                </a:solidFill>
              </a:defRPr>
            </a:pPr>
            <a:r>
              <a:t>Returns: answer, evidence_ids, confidence</a:t>
            </a:r>
          </a:p>
        </p:txBody>
      </p:sp>
      <p:sp>
        <p:nvSpPr>
          <p:cNvPr id="14" name="Rounded Rectangle 13"/>
          <p:cNvSpPr/>
          <p:nvPr/>
        </p:nvSpPr>
        <p:spPr>
          <a:xfrm>
            <a:off x="731520" y="4663440"/>
            <a:ext cx="525780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773168"/>
            <a:ext cx="4928616" cy="1243584"/>
          </a:xfrm>
          <a:prstGeom prst="rect">
            <a:avLst/>
          </a:prstGeom>
          <a:noFill/>
        </p:spPr>
        <p:txBody>
          <a:bodyPr wrap="square">
            <a:spAutoFit/>
          </a:bodyPr>
          <a:lstStyle/>
          <a:p>
            <a:pPr>
              <a:defRPr sz="1100" b="1">
                <a:solidFill>
                  <a:srgbClr val="2563EB"/>
                </a:solidFill>
              </a:defRPr>
            </a:pPr>
            <a:r>
              <a:t>GET /analysis/dashboard</a:t>
            </a:r>
          </a:p>
          <a:p>
            <a:pPr>
              <a:spcBef>
                <a:spcPts val="300"/>
              </a:spcBef>
              <a:defRPr sz="850">
                <a:solidFill>
                  <a:srgbClr val="0F172A"/>
                </a:solidFill>
              </a:defRPr>
            </a:pPr>
            <a:r>
              <a:t>Analytics Router | Aggregates platform KPIs (15+ courses, 85+ issues, 60+ recommendations, issue % breakdown).</a:t>
            </a:r>
          </a:p>
          <a:p>
            <a:pPr>
              <a:spcBef>
                <a:spcPts val="300"/>
              </a:spcBef>
              <a:defRPr sz="800" b="1">
                <a:solidFill>
                  <a:srgbClr val="10B981"/>
                </a:solidFill>
              </a:defRPr>
            </a:pPr>
            <a:r>
              <a:t>Returns: High-level metric counts</a:t>
            </a:r>
          </a:p>
        </p:txBody>
      </p:sp>
      <p:sp>
        <p:nvSpPr>
          <p:cNvPr id="16" name="Rounded Rectangle 15"/>
          <p:cNvSpPr/>
          <p:nvPr/>
        </p:nvSpPr>
        <p:spPr>
          <a:xfrm>
            <a:off x="6172200" y="4663440"/>
            <a:ext cx="5257800" cy="14630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4773168"/>
            <a:ext cx="4928616" cy="1243584"/>
          </a:xfrm>
          <a:prstGeom prst="rect">
            <a:avLst/>
          </a:prstGeom>
          <a:noFill/>
        </p:spPr>
        <p:txBody>
          <a:bodyPr wrap="square">
            <a:spAutoFit/>
          </a:bodyPr>
          <a:lstStyle/>
          <a:p>
            <a:pPr>
              <a:defRPr sz="1100" b="1">
                <a:solidFill>
                  <a:srgbClr val="2563EB"/>
                </a:solidFill>
              </a:defRPr>
            </a:pPr>
            <a:r>
              <a:t>GET /analysis/{id}</a:t>
            </a:r>
          </a:p>
          <a:p>
            <a:pPr>
              <a:spcBef>
                <a:spcPts val="300"/>
              </a:spcBef>
              <a:defRPr sz="850">
                <a:solidFill>
                  <a:srgbClr val="0F172A"/>
                </a:solidFill>
              </a:defRPr>
            </a:pPr>
            <a:r>
              <a:t>Diagnostics Router | Surfaces granular instructional friction points, quiz error correlations, and remediations.</a:t>
            </a:r>
          </a:p>
          <a:p>
            <a:pPr>
              <a:spcBef>
                <a:spcPts val="300"/>
              </a:spcBef>
              <a:defRPr sz="800" b="1">
                <a:solidFill>
                  <a:srgbClr val="10B981"/>
                </a:solidFill>
              </a:defRPr>
            </a:pPr>
            <a:r>
              <a:t>Returns: Bottlenecks &amp; evidence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USER EXPERIENCE</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Modern React + Vite Analytics Dashboard</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Glassmorphism aesthetics, clickable executive KPI cards, and deep diagnostic drilldowns</a:t>
            </a:r>
          </a:p>
        </p:txBody>
      </p:sp>
      <p:pic>
        <p:nvPicPr>
          <p:cNvPr id="6" name="Picture 5" descr="dashboard_overview_1790901885327.png"/>
          <p:cNvPicPr>
            <a:picLocks noChangeAspect="1"/>
          </p:cNvPicPr>
          <p:nvPr/>
        </p:nvPicPr>
        <p:blipFill>
          <a:blip r:embed="rId2"/>
          <a:stretch>
            <a:fillRect/>
          </a:stretch>
        </p:blipFill>
        <p:spPr>
          <a:xfrm>
            <a:off x="731520" y="1463040"/>
            <a:ext cx="6858000" cy="4754880"/>
          </a:xfrm>
          <a:prstGeom prst="rect">
            <a:avLst/>
          </a:prstGeom>
        </p:spPr>
      </p:pic>
      <p:sp>
        <p:nvSpPr>
          <p:cNvPr id="7" name="Rounded Rectangle 6"/>
          <p:cNvSpPr/>
          <p:nvPr/>
        </p:nvSpPr>
        <p:spPr>
          <a:xfrm>
            <a:off x="7772400" y="1463040"/>
            <a:ext cx="365760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291840" cy="4480560"/>
          </a:xfrm>
          <a:prstGeom prst="rect">
            <a:avLst/>
          </a:prstGeom>
          <a:noFill/>
        </p:spPr>
        <p:txBody>
          <a:bodyPr wrap="square">
            <a:spAutoFit/>
          </a:bodyPr>
          <a:lstStyle/>
          <a:p>
            <a:pPr>
              <a:defRPr sz="1100" b="1">
                <a:solidFill>
                  <a:srgbClr val="2563EB"/>
                </a:solidFill>
              </a:defRPr>
            </a:pPr>
            <a:r>
              <a:t>CORE UI CAPABILITIES</a:t>
            </a:r>
          </a:p>
          <a:p>
            <a:pPr>
              <a:spcBef>
                <a:spcPts val="600"/>
              </a:spcBef>
              <a:defRPr sz="900" b="1">
                <a:solidFill>
                  <a:srgbClr val="0F172A"/>
                </a:solidFill>
              </a:defRPr>
            </a:pPr>
            <a:r>
              <a:t>• Clickable Metric Cards: </a:t>
            </a:r>
            <a:r>
              <a:rPr b="0">
                <a:solidFill>
                  <a:srgbClr val="64748B"/>
                </a:solidFill>
              </a:rPr>
              <a:t>Instant drill-down modals for Courses, Issues Detected, Pedagogical Recommendations, and Pending Reviews.</a:t>
            </a:r>
          </a:p>
          <a:p>
            <a:pPr>
              <a:spcBef>
                <a:spcPts val="600"/>
              </a:spcBef>
              <a:defRPr sz="900" b="1">
                <a:solidFill>
                  <a:srgbClr val="0F172A"/>
                </a:solidFill>
              </a:defRPr>
            </a:pPr>
            <a:r>
              <a:t>• Course Material Explorer: </a:t>
            </a:r>
            <a:r>
              <a:rPr b="0">
                <a:solidFill>
                  <a:srgbClr val="64748B"/>
                </a:solidFill>
              </a:rPr>
              <a:t>Side-by-side video playback with synchronized subtitle highlights and HTML reading viewer.</a:t>
            </a:r>
          </a:p>
          <a:p>
            <a:pPr>
              <a:spcBef>
                <a:spcPts val="600"/>
              </a:spcBef>
              <a:defRPr sz="900" b="1">
                <a:solidFill>
                  <a:srgbClr val="0F172A"/>
                </a:solidFill>
              </a:defRPr>
            </a:pPr>
            <a:r>
              <a:t>• Interactive Ingestion Modal: </a:t>
            </a:r>
            <a:r>
              <a:rPr b="0">
                <a:solidFill>
                  <a:srgbClr val="64748B"/>
                </a:solidFill>
              </a:rPr>
              <a:t>Allows instructors to paste course URLs or upload archives directly from the browser.</a:t>
            </a:r>
          </a:p>
          <a:p>
            <a:pPr>
              <a:spcBef>
                <a:spcPts val="600"/>
              </a:spcBef>
              <a:defRPr sz="900" b="1">
                <a:solidFill>
                  <a:srgbClr val="0F172A"/>
                </a:solidFill>
              </a:defRPr>
            </a:pPr>
            <a:r>
              <a:t>• Integrated AI Copilot: </a:t>
            </a:r>
            <a:r>
              <a:rPr b="0">
                <a:solidFill>
                  <a:srgbClr val="64748B"/>
                </a:solidFill>
              </a:rPr>
              <a:t>Always-available conversational drawer with one-click questions and confidence metrics.</a:t>
            </a:r>
          </a:p>
          <a:p>
            <a:pPr>
              <a:spcBef>
                <a:spcPts val="600"/>
              </a:spcBef>
              <a:defRPr sz="900" b="1">
                <a:solidFill>
                  <a:srgbClr val="0F172A"/>
                </a:solidFill>
              </a:defRPr>
            </a:pPr>
            <a:r>
              <a:t>• Vite 8 Build Performance: </a:t>
            </a:r>
            <a:r>
              <a:rPr b="0">
                <a:solidFill>
                  <a:srgbClr val="64748B"/>
                </a:solidFill>
              </a:rPr>
              <a:t>Assembles production bundle in 270ms with zero linting or bundle size warnings.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INSTRUCTIONAL ANALYTICS</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Diagnostic Modals &amp; Pedagogical Intelligence</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Actionable insights pinpointing learner confusion and curriculum bottlenecks</a:t>
            </a:r>
          </a:p>
        </p:txBody>
      </p:sp>
      <p:pic>
        <p:nvPicPr>
          <p:cNvPr id="6" name="Picture 5" descr="issues_modal_1790901900944.png"/>
          <p:cNvPicPr>
            <a:picLocks noChangeAspect="1"/>
          </p:cNvPicPr>
          <p:nvPr/>
        </p:nvPicPr>
        <p:blipFill>
          <a:blip r:embed="rId2"/>
          <a:stretch>
            <a:fillRect/>
          </a:stretch>
        </p:blipFill>
        <p:spPr>
          <a:xfrm>
            <a:off x="731520" y="1463040"/>
            <a:ext cx="5212080" cy="3840480"/>
          </a:xfrm>
          <a:prstGeom prst="rect">
            <a:avLst/>
          </a:prstGeom>
        </p:spPr>
      </p:pic>
      <p:pic>
        <p:nvPicPr>
          <p:cNvPr id="7" name="Picture 6" descr="recommendations_modal_1790901929000.png"/>
          <p:cNvPicPr>
            <a:picLocks noChangeAspect="1"/>
          </p:cNvPicPr>
          <p:nvPr/>
        </p:nvPicPr>
        <p:blipFill>
          <a:blip r:embed="rId3"/>
          <a:stretch>
            <a:fillRect/>
          </a:stretch>
        </p:blipFill>
        <p:spPr>
          <a:xfrm>
            <a:off x="6217920" y="1463040"/>
            <a:ext cx="5212080" cy="3840480"/>
          </a:xfrm>
          <a:prstGeom prst="rect">
            <a:avLst/>
          </a:prstGeom>
        </p:spPr>
      </p:pic>
      <p:sp>
        <p:nvSpPr>
          <p:cNvPr id="8" name="Rounded Rectangle 7"/>
          <p:cNvSpPr/>
          <p:nvPr/>
        </p:nvSpPr>
        <p:spPr>
          <a:xfrm>
            <a:off x="731520" y="5486400"/>
            <a:ext cx="10698480" cy="914400"/>
          </a:xfrm>
          <a:prstGeom prst="roundRect">
            <a:avLst/>
          </a:prstGeom>
          <a:solidFill>
            <a:srgbClr val="F8FAFC"/>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32120"/>
            <a:ext cx="10332720" cy="822960"/>
          </a:xfrm>
          <a:prstGeom prst="rect">
            <a:avLst/>
          </a:prstGeom>
          <a:noFill/>
        </p:spPr>
        <p:txBody>
          <a:bodyPr wrap="square">
            <a:spAutoFit/>
          </a:bodyPr>
          <a:lstStyle/>
          <a:p>
            <a:pPr>
              <a:defRPr sz="1000" b="1">
                <a:solidFill>
                  <a:srgbClr val="2563EB"/>
                </a:solidFill>
              </a:defRPr>
            </a:pPr>
            <a:r>
              <a:t>DIAGNOSTIC BOTTLENECK CLASSIFICATION</a:t>
            </a:r>
          </a:p>
          <a:p>
            <a:pPr>
              <a:spcBef>
                <a:spcPts val="200"/>
              </a:spcBef>
              <a:defRPr sz="850">
                <a:solidFill>
                  <a:srgbClr val="0F172A"/>
                </a:solidFill>
              </a:defRPr>
            </a:pPr>
            <a:r>
              <a:t>40% Concept Confusion (lecture intro pacing) | 35% Insufficient Examples (code demonstrations) | 18% Complex Explanations | 12% Quiz Misalignment. All recommendations link to exact video timestamps.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DEVOPS &amp; CLOUD</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Global Edge Deployment &amp; High Availability</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Vercel Edge Network, Dockerized FastAPI, Supabase Cloud Database, and SSL Security</a:t>
            </a:r>
          </a:p>
        </p:txBody>
      </p:sp>
      <p:sp>
        <p:nvSpPr>
          <p:cNvPr id="6" name="Rounded Rectangle 5"/>
          <p:cNvSpPr/>
          <p:nvPr/>
        </p:nvSpPr>
        <p:spPr>
          <a:xfrm>
            <a:off x="731520" y="1463040"/>
            <a:ext cx="3474720" cy="484632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145536" cy="4572000"/>
          </a:xfrm>
          <a:prstGeom prst="rect">
            <a:avLst/>
          </a:prstGeom>
          <a:noFill/>
        </p:spPr>
        <p:txBody>
          <a:bodyPr wrap="square">
            <a:spAutoFit/>
          </a:bodyPr>
          <a:lstStyle/>
          <a:p>
            <a:pPr>
              <a:defRPr sz="1100" b="1">
                <a:solidFill>
                  <a:srgbClr val="2563EB"/>
                </a:solidFill>
              </a:defRPr>
            </a:pPr>
            <a:r>
              <a:t>FRONTEND EDGE CDN</a:t>
            </a:r>
          </a:p>
          <a:p>
            <a:pPr>
              <a:spcBef>
                <a:spcPts val="200"/>
              </a:spcBef>
              <a:defRPr sz="950" b="1">
                <a:solidFill>
                  <a:srgbClr val="0F172A"/>
                </a:solidFill>
              </a:defRPr>
            </a:pPr>
            <a:r>
              <a:t>Vercel Global Edge Network</a:t>
            </a:r>
          </a:p>
          <a:p>
            <a:pPr>
              <a:spcBef>
                <a:spcPts val="600"/>
              </a:spcBef>
              <a:defRPr sz="850">
                <a:solidFill>
                  <a:srgbClr val="64748B"/>
                </a:solidFill>
              </a:defRPr>
            </a:pPr>
            <a:r>
              <a:t>• Live URL: coursera-multimodal-intelligence-pl.vercel.app</a:t>
            </a:r>
          </a:p>
          <a:p>
            <a:pPr>
              <a:spcBef>
                <a:spcPts val="600"/>
              </a:spcBef>
              <a:defRPr sz="850">
                <a:solidFill>
                  <a:srgbClr val="64748B"/>
                </a:solidFill>
              </a:defRPr>
            </a:pPr>
            <a:r>
              <a:t>• Edge HTTP 200 response time: 0.289 seconds</a:t>
            </a:r>
          </a:p>
          <a:p>
            <a:pPr>
              <a:spcBef>
                <a:spcPts val="600"/>
              </a:spcBef>
              <a:defRPr sz="850">
                <a:solidFill>
                  <a:srgbClr val="64748B"/>
                </a:solidFill>
              </a:defRPr>
            </a:pPr>
            <a:r>
              <a:t>• Zero cold starts, automated SSL, global geo-routing</a:t>
            </a:r>
          </a:p>
          <a:p>
            <a:pPr>
              <a:spcBef>
                <a:spcPts val="600"/>
              </a:spcBef>
              <a:defRPr sz="850">
                <a:solidFill>
                  <a:srgbClr val="64748B"/>
                </a:solidFill>
              </a:defRPr>
            </a:pPr>
            <a:r>
              <a:t>• Continuous Deployment from GitHub main branch</a:t>
            </a:r>
          </a:p>
        </p:txBody>
      </p:sp>
      <p:sp>
        <p:nvSpPr>
          <p:cNvPr id="8" name="Rounded Rectangle 7"/>
          <p:cNvSpPr/>
          <p:nvPr/>
        </p:nvSpPr>
        <p:spPr>
          <a:xfrm>
            <a:off x="4343400" y="1463040"/>
            <a:ext cx="3474720" cy="484632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00200"/>
            <a:ext cx="3145536" cy="4572000"/>
          </a:xfrm>
          <a:prstGeom prst="rect">
            <a:avLst/>
          </a:prstGeom>
          <a:noFill/>
        </p:spPr>
        <p:txBody>
          <a:bodyPr wrap="square">
            <a:spAutoFit/>
          </a:bodyPr>
          <a:lstStyle/>
          <a:p>
            <a:pPr>
              <a:defRPr sz="1100" b="1">
                <a:solidFill>
                  <a:srgbClr val="10B981"/>
                </a:solidFill>
              </a:defRPr>
            </a:pPr>
            <a:r>
              <a:t>BACKEND SERVICES</a:t>
            </a:r>
          </a:p>
          <a:p>
            <a:pPr>
              <a:spcBef>
                <a:spcPts val="200"/>
              </a:spcBef>
              <a:defRPr sz="950" b="1">
                <a:solidFill>
                  <a:srgbClr val="0F172A"/>
                </a:solidFill>
              </a:defRPr>
            </a:pPr>
            <a:r>
              <a:t>Containerized FastAPI</a:t>
            </a:r>
          </a:p>
          <a:p>
            <a:pPr>
              <a:spcBef>
                <a:spcPts val="600"/>
              </a:spcBef>
              <a:defRPr sz="850">
                <a:solidFill>
                  <a:srgbClr val="64748B"/>
                </a:solidFill>
              </a:defRPr>
            </a:pPr>
            <a:r>
              <a:t>• Docker container: Dockerfile.backend &amp; docker-compose.yml</a:t>
            </a:r>
          </a:p>
          <a:p>
            <a:pPr>
              <a:spcBef>
                <a:spcPts val="600"/>
              </a:spcBef>
              <a:defRPr sz="850">
                <a:solidFill>
                  <a:srgbClr val="64748B"/>
                </a:solidFill>
              </a:defRPr>
            </a:pPr>
            <a:r>
              <a:t>• Asynchronous Uvicorn server with health check probes</a:t>
            </a:r>
          </a:p>
          <a:p>
            <a:pPr>
              <a:spcBef>
                <a:spcPts val="600"/>
              </a:spcBef>
              <a:defRPr sz="850">
                <a:solidFill>
                  <a:srgbClr val="64748B"/>
                </a:solidFill>
              </a:defRPr>
            </a:pPr>
            <a:r>
              <a:t>• CORS middleware configured for secure cross-origin queries</a:t>
            </a:r>
          </a:p>
          <a:p>
            <a:pPr>
              <a:spcBef>
                <a:spcPts val="600"/>
              </a:spcBef>
              <a:defRPr sz="850">
                <a:solidFill>
                  <a:srgbClr val="64748B"/>
                </a:solidFill>
              </a:defRPr>
            </a:pPr>
            <a:r>
              <a:t>• Dual fallback client architecture preventing UI lag</a:t>
            </a:r>
          </a:p>
        </p:txBody>
      </p:sp>
      <p:sp>
        <p:nvSpPr>
          <p:cNvPr id="10" name="Rounded Rectangle 9"/>
          <p:cNvSpPr/>
          <p:nvPr/>
        </p:nvSpPr>
        <p:spPr>
          <a:xfrm>
            <a:off x="7955280" y="1463040"/>
            <a:ext cx="3474720" cy="4846320"/>
          </a:xfrm>
          <a:prstGeom prst="roundRect">
            <a:avLst/>
          </a:prstGeom>
          <a:solidFill>
            <a:srgbClr val="F5F3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1600200"/>
            <a:ext cx="3145536" cy="4572000"/>
          </a:xfrm>
          <a:prstGeom prst="rect">
            <a:avLst/>
          </a:prstGeom>
          <a:noFill/>
        </p:spPr>
        <p:txBody>
          <a:bodyPr wrap="square">
            <a:spAutoFit/>
          </a:bodyPr>
          <a:lstStyle/>
          <a:p>
            <a:pPr>
              <a:defRPr sz="1100" b="1">
                <a:solidFill>
                  <a:srgbClr val="8B5CF6"/>
                </a:solidFill>
              </a:defRPr>
            </a:pPr>
            <a:r>
              <a:t>DATABASE &amp; SECRETS</a:t>
            </a:r>
          </a:p>
          <a:p>
            <a:pPr>
              <a:spcBef>
                <a:spcPts val="200"/>
              </a:spcBef>
              <a:defRPr sz="950" b="1">
                <a:solidFill>
                  <a:srgbClr val="0F172A"/>
                </a:solidFill>
              </a:defRPr>
            </a:pPr>
            <a:r>
              <a:t>Supabase Cloud &amp; pgvector</a:t>
            </a:r>
          </a:p>
          <a:p>
            <a:pPr>
              <a:spcBef>
                <a:spcPts val="600"/>
              </a:spcBef>
              <a:defRPr sz="850">
                <a:solidFill>
                  <a:srgbClr val="64748B"/>
                </a:solidFill>
              </a:defRPr>
            </a:pPr>
            <a:r>
              <a:t>• Managed PostgreSQL 15+ with pgvector extension</a:t>
            </a:r>
          </a:p>
          <a:p>
            <a:pPr>
              <a:spcBef>
                <a:spcPts val="600"/>
              </a:spcBef>
              <a:defRPr sz="850">
                <a:solidFill>
                  <a:srgbClr val="64748B"/>
                </a:solidFill>
              </a:defRPr>
            </a:pPr>
            <a:r>
              <a:t>• Automated schema migration via migrate_to_supabase.py</a:t>
            </a:r>
          </a:p>
          <a:p>
            <a:pPr>
              <a:spcBef>
                <a:spcPts val="600"/>
              </a:spcBef>
              <a:defRPr sz="850">
                <a:solidFill>
                  <a:srgbClr val="64748B"/>
                </a:solidFill>
              </a:defRPr>
            </a:pPr>
            <a:r>
              <a:t>• Environment secret isolation (.env never committed)</a:t>
            </a:r>
          </a:p>
          <a:p>
            <a:pPr>
              <a:spcBef>
                <a:spcPts val="600"/>
              </a:spcBef>
              <a:defRPr sz="850">
                <a:solidFill>
                  <a:srgbClr val="64748B"/>
                </a:solidFill>
              </a:defRPr>
            </a:pPr>
            <a:r>
              <a:t>• Client localStorage override for user Gemini API keys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QUALITY ASSURANCE</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Automated Testing &amp; Release Certification</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97/97 tests passing with 100% fidelity across parsers, guardrails, and production builds</a:t>
            </a:r>
          </a:p>
        </p:txBody>
      </p:sp>
      <p:sp>
        <p:nvSpPr>
          <p:cNvPr id="6" name="Rounded Rectangle 5"/>
          <p:cNvSpPr/>
          <p:nvPr/>
        </p:nvSpPr>
        <p:spPr>
          <a:xfrm>
            <a:off x="731520" y="1463040"/>
            <a:ext cx="5486400" cy="4754880"/>
          </a:xfrm>
          <a:prstGeom prst="roundRect">
            <a:avLst/>
          </a:prstGeom>
          <a:solidFill>
            <a:srgbClr val="0F172A"/>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5120640" cy="4480560"/>
          </a:xfrm>
          <a:prstGeom prst="rect">
            <a:avLst/>
          </a:prstGeom>
          <a:noFill/>
        </p:spPr>
        <p:txBody>
          <a:bodyPr wrap="square">
            <a:spAutoFit/>
          </a:bodyPr>
          <a:lstStyle/>
          <a:p>
            <a:pPr>
              <a:defRPr sz="1100" b="1">
                <a:solidFill>
                  <a:srgbClr val="38BDF8"/>
                </a:solidFill>
              </a:defRPr>
            </a:pPr>
            <a:r>
              <a:t>TERMINAL TEST SUITE EXECUTION</a:t>
            </a:r>
          </a:p>
          <a:p>
            <a:pPr>
              <a:spcBef>
                <a:spcPts val="600"/>
              </a:spcBef>
              <a:defRPr sz="900" b="1">
                <a:solidFill>
                  <a:srgbClr val="FFFFFF"/>
                </a:solidFill>
              </a:defRPr>
            </a:pPr>
            <a:r>
              <a:t>[1/4] Backend Unit &amp; Parser Tests (93 tests)</a:t>
            </a:r>
          </a:p>
          <a:p>
            <a:pPr>
              <a:spcBef>
                <a:spcPts val="100"/>
              </a:spcBef>
              <a:defRPr sz="850">
                <a:solidFill>
                  <a:srgbClr val="4ADE80"/>
                </a:solidFill>
              </a:defRPr>
            </a:pPr>
            <a:r>
              <a:t>  └── 93 passed in 0.88s (test_html, test_srt, test_txt, test_utils)</a:t>
            </a:r>
          </a:p>
          <a:p>
            <a:pPr>
              <a:spcBef>
                <a:spcPts val="600"/>
              </a:spcBef>
              <a:defRPr sz="900" b="1">
                <a:solidFill>
                  <a:srgbClr val="FFFFFF"/>
                </a:solidFill>
              </a:defRPr>
            </a:pPr>
            <a:r>
              <a:t>[2/4] AI Evidence Validator Tests</a:t>
            </a:r>
          </a:p>
          <a:p>
            <a:pPr>
              <a:spcBef>
                <a:spcPts val="100"/>
              </a:spcBef>
              <a:defRPr sz="850">
                <a:solidFill>
                  <a:srgbClr val="4ADE80"/>
                </a:solidFill>
              </a:defRPr>
            </a:pPr>
            <a:r>
              <a:t>  └── 1 passed in 0.03s (Ai_Tests/test_evidence_validator.py)</a:t>
            </a:r>
          </a:p>
          <a:p>
            <a:pPr>
              <a:spcBef>
                <a:spcPts val="600"/>
              </a:spcBef>
              <a:defRPr sz="900" b="1">
                <a:solidFill>
                  <a:srgbClr val="FFFFFF"/>
                </a:solidFill>
              </a:defRPr>
            </a:pPr>
            <a:r>
              <a:t>[3/4] Anti-Hallucination Guardrail Check</a:t>
            </a:r>
          </a:p>
          <a:p>
            <a:pPr>
              <a:spcBef>
                <a:spcPts val="100"/>
              </a:spcBef>
              <a:defRPr sz="850">
                <a:solidFill>
                  <a:srgbClr val="FBBF24"/>
                </a:solidFill>
              </a:defRPr>
            </a:pPr>
            <a:r>
              <a:t>  └── Correctly rejected fake citation 'fake-evidence-999'</a:t>
            </a:r>
          </a:p>
          <a:p>
            <a:pPr>
              <a:spcBef>
                <a:spcPts val="600"/>
              </a:spcBef>
              <a:defRPr sz="900" b="1">
                <a:solidFill>
                  <a:srgbClr val="FFFFFF"/>
                </a:solidFill>
              </a:defRPr>
            </a:pPr>
            <a:r>
              <a:t>[4/4] Frontend Production Build</a:t>
            </a:r>
          </a:p>
          <a:p>
            <a:pPr>
              <a:spcBef>
                <a:spcPts val="100"/>
              </a:spcBef>
              <a:defRPr sz="850">
                <a:solidFill>
                  <a:srgbClr val="4ADE80"/>
                </a:solidFill>
              </a:defRPr>
            </a:pPr>
            <a:r>
              <a:t>  └── vite build: 16 modules transformed in 270ms, 0 errors</a:t>
            </a:r>
          </a:p>
          <a:p>
            <a:pPr>
              <a:spcBef>
                <a:spcPts val="600"/>
              </a:spcBef>
              <a:defRPr sz="900" b="1">
                <a:solidFill>
                  <a:srgbClr val="FFFFFF"/>
                </a:solidFill>
              </a:defRPr>
            </a:pPr>
            <a:r>
              <a:t>[5/5] Live Production HTTP Probe</a:t>
            </a:r>
          </a:p>
          <a:p>
            <a:pPr>
              <a:spcBef>
                <a:spcPts val="100"/>
              </a:spcBef>
              <a:defRPr sz="850">
                <a:solidFill>
                  <a:srgbClr val="4ADE80"/>
                </a:solidFill>
              </a:defRPr>
            </a:pPr>
            <a:r>
              <a:t>  └── Vercel Edge HTTP 200 | Latency: 0.289s</a:t>
            </a:r>
          </a:p>
        </p:txBody>
      </p:sp>
      <p:sp>
        <p:nvSpPr>
          <p:cNvPr id="8" name="Rounded Rectangle 7"/>
          <p:cNvSpPr/>
          <p:nvPr/>
        </p:nvSpPr>
        <p:spPr>
          <a:xfrm>
            <a:off x="6492240" y="1463040"/>
            <a:ext cx="4937760" cy="475488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00200"/>
            <a:ext cx="4572000" cy="4480560"/>
          </a:xfrm>
          <a:prstGeom prst="rect">
            <a:avLst/>
          </a:prstGeom>
          <a:noFill/>
        </p:spPr>
        <p:txBody>
          <a:bodyPr wrap="square">
            <a:spAutoFit/>
          </a:bodyPr>
          <a:lstStyle/>
          <a:p>
            <a:pPr>
              <a:defRPr sz="1200" b="1">
                <a:solidFill>
                  <a:srgbClr val="065F46"/>
                </a:solidFill>
              </a:defRPr>
            </a:pPr>
            <a:r>
              <a:t>OFFICIAL RELEASE CERTIFICATION</a:t>
            </a:r>
          </a:p>
          <a:p>
            <a:pPr>
              <a:spcBef>
                <a:spcPts val="800"/>
              </a:spcBef>
              <a:defRPr sz="950" b="1">
                <a:solidFill>
                  <a:srgbClr val="065F46"/>
                </a:solidFill>
              </a:defRPr>
            </a:pPr>
            <a:r>
              <a:t>✔ 100% Sub-Second Pass Rate: </a:t>
            </a:r>
            <a:r>
              <a:rPr b="0">
                <a:solidFill>
                  <a:srgbClr val="0F172A"/>
                </a:solidFill>
              </a:rPr>
              <a:t>All 97 unit and integration tests execute in under 1 second total.</a:t>
            </a:r>
          </a:p>
          <a:p>
            <a:pPr>
              <a:spcBef>
                <a:spcPts val="800"/>
              </a:spcBef>
              <a:defRPr sz="950" b="1">
                <a:solidFill>
                  <a:srgbClr val="065F46"/>
                </a:solidFill>
              </a:defRPr>
            </a:pPr>
            <a:r>
              <a:t>✔ Zero Untracked Hallucinations: </a:t>
            </a:r>
            <a:r>
              <a:rPr b="0">
                <a:solidFill>
                  <a:srgbClr val="0F172A"/>
                </a:solidFill>
              </a:rPr>
              <a:t>EvidenceValidator actively blocks any fabricated curriculum citation.</a:t>
            </a:r>
          </a:p>
          <a:p>
            <a:pPr>
              <a:spcBef>
                <a:spcPts val="800"/>
              </a:spcBef>
              <a:defRPr sz="950" b="1">
                <a:solidFill>
                  <a:srgbClr val="065F46"/>
                </a:solidFill>
              </a:defRPr>
            </a:pPr>
            <a:r>
              <a:t>✔ Strict Data Quality Audit: </a:t>
            </a:r>
            <a:r>
              <a:rPr b="0">
                <a:solidFill>
                  <a:srgbClr val="0F172A"/>
                </a:solidFill>
              </a:rPr>
              <a:t>8 programmatic DQ rules detect missing captions, audio dropouts, and corrupt text.</a:t>
            </a:r>
          </a:p>
          <a:p>
            <a:pPr>
              <a:spcBef>
                <a:spcPts val="800"/>
              </a:spcBef>
              <a:defRPr sz="950" b="1">
                <a:solidFill>
                  <a:srgbClr val="065F46"/>
                </a:solidFill>
              </a:defRPr>
            </a:pPr>
            <a:r>
              <a:t>✔ Enterprise Production Sign-Off: </a:t>
            </a:r>
            <a:r>
              <a:rPr b="0">
                <a:solidFill>
                  <a:srgbClr val="0F172A"/>
                </a:solidFill>
              </a:rPr>
              <a:t>Certified ready for general availability under Git commit 0382391.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BUSINESS IMPACT</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Quantifiable Business ROI &amp; Enterprise Value</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Transforming curriculum engineering speed, instructional quality, and operational efficiency</a:t>
            </a:r>
          </a:p>
        </p:txBody>
      </p:sp>
      <p:sp>
        <p:nvSpPr>
          <p:cNvPr id="6" name="Rounded Rectangle 5"/>
          <p:cNvSpPr/>
          <p:nvPr/>
        </p:nvSpPr>
        <p:spPr>
          <a:xfrm>
            <a:off x="731520" y="1463040"/>
            <a:ext cx="256032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45920"/>
            <a:ext cx="2231136" cy="2926080"/>
          </a:xfrm>
          <a:prstGeom prst="rect">
            <a:avLst/>
          </a:prstGeom>
          <a:noFill/>
        </p:spPr>
        <p:txBody>
          <a:bodyPr wrap="square">
            <a:spAutoFit/>
          </a:bodyPr>
          <a:lstStyle/>
          <a:p>
            <a:pPr>
              <a:defRPr sz="1400" b="1">
                <a:solidFill>
                  <a:srgbClr val="2563EB"/>
                </a:solidFill>
              </a:defRPr>
            </a:pPr>
            <a:r>
              <a:t>80% TIME SAVINGS</a:t>
            </a:r>
          </a:p>
          <a:p>
            <a:pPr>
              <a:spcBef>
                <a:spcPts val="400"/>
              </a:spcBef>
              <a:defRPr sz="1100" b="1">
                <a:solidFill>
                  <a:srgbClr val="0F172A"/>
                </a:solidFill>
              </a:defRPr>
            </a:pPr>
            <a:r>
              <a:t>Course Review Cycles</a:t>
            </a:r>
          </a:p>
          <a:p>
            <a:pPr>
              <a:spcBef>
                <a:spcPts val="800"/>
              </a:spcBef>
              <a:defRPr sz="850">
                <a:solidFill>
                  <a:srgbClr val="64748B"/>
                </a:solidFill>
              </a:defRPr>
            </a:pPr>
            <a:r>
              <a:t>Automates transcript analysis, caption validation, and syllabus auditing, reducing manual review from weeks to minutes.</a:t>
            </a:r>
          </a:p>
        </p:txBody>
      </p:sp>
      <p:sp>
        <p:nvSpPr>
          <p:cNvPr id="8" name="Rounded Rectangle 7"/>
          <p:cNvSpPr/>
          <p:nvPr/>
        </p:nvSpPr>
        <p:spPr>
          <a:xfrm>
            <a:off x="3429000" y="1463040"/>
            <a:ext cx="256032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645920"/>
            <a:ext cx="2231136" cy="2926080"/>
          </a:xfrm>
          <a:prstGeom prst="rect">
            <a:avLst/>
          </a:prstGeom>
          <a:noFill/>
        </p:spPr>
        <p:txBody>
          <a:bodyPr wrap="square">
            <a:spAutoFit/>
          </a:bodyPr>
          <a:lstStyle/>
          <a:p>
            <a:pPr>
              <a:defRPr sz="1400" b="1">
                <a:solidFill>
                  <a:srgbClr val="10B981"/>
                </a:solidFill>
              </a:defRPr>
            </a:pPr>
            <a:r>
              <a:t>ZERO FABRICATION</a:t>
            </a:r>
          </a:p>
          <a:p>
            <a:pPr>
              <a:spcBef>
                <a:spcPts val="400"/>
              </a:spcBef>
              <a:defRPr sz="1100" b="1">
                <a:solidFill>
                  <a:srgbClr val="0F172A"/>
                </a:solidFill>
              </a:defRPr>
            </a:pPr>
            <a:r>
              <a:t>Pedagogical Trust</a:t>
            </a:r>
          </a:p>
          <a:p>
            <a:pPr>
              <a:spcBef>
                <a:spcPts val="800"/>
              </a:spcBef>
              <a:defRPr sz="850">
                <a:solidFill>
                  <a:srgbClr val="64748B"/>
                </a:solidFill>
              </a:defRPr>
            </a:pPr>
            <a:r>
              <a:t>Evidence-grounded RAG guarantees students receive accurate, syllabus-aligned answers, eliminating AI liability.</a:t>
            </a:r>
          </a:p>
        </p:txBody>
      </p:sp>
      <p:sp>
        <p:nvSpPr>
          <p:cNvPr id="10" name="Rounded Rectangle 9"/>
          <p:cNvSpPr/>
          <p:nvPr/>
        </p:nvSpPr>
        <p:spPr>
          <a:xfrm>
            <a:off x="6126480" y="1463040"/>
            <a:ext cx="256032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645920"/>
            <a:ext cx="2231136" cy="2926080"/>
          </a:xfrm>
          <a:prstGeom prst="rect">
            <a:avLst/>
          </a:prstGeom>
          <a:noFill/>
        </p:spPr>
        <p:txBody>
          <a:bodyPr wrap="square">
            <a:spAutoFit/>
          </a:bodyPr>
          <a:lstStyle/>
          <a:p>
            <a:pPr>
              <a:defRPr sz="1400" b="1">
                <a:solidFill>
                  <a:srgbClr val="8B5CF6"/>
                </a:solidFill>
              </a:defRPr>
            </a:pPr>
            <a:r>
              <a:t>ACTIONABLE INTELLIGENCE</a:t>
            </a:r>
          </a:p>
          <a:p>
            <a:pPr>
              <a:spcBef>
                <a:spcPts val="400"/>
              </a:spcBef>
              <a:defRPr sz="1100" b="1">
                <a:solidFill>
                  <a:srgbClr val="0F172A"/>
                </a:solidFill>
              </a:defRPr>
            </a:pPr>
            <a:r>
              <a:t>Student Retention</a:t>
            </a:r>
          </a:p>
          <a:p>
            <a:pPr>
              <a:spcBef>
                <a:spcPts val="800"/>
              </a:spcBef>
              <a:defRPr sz="850">
                <a:solidFill>
                  <a:srgbClr val="64748B"/>
                </a:solidFill>
              </a:defRPr>
            </a:pPr>
            <a:r>
              <a:t>Identifies the exact video timestamps and quiz questions causing student confusion, enabling proactive course fixes.</a:t>
            </a:r>
          </a:p>
        </p:txBody>
      </p:sp>
      <p:sp>
        <p:nvSpPr>
          <p:cNvPr id="12" name="Rounded Rectangle 11"/>
          <p:cNvSpPr/>
          <p:nvPr/>
        </p:nvSpPr>
        <p:spPr>
          <a:xfrm>
            <a:off x="8823960" y="1463040"/>
            <a:ext cx="256032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88552" y="1645920"/>
            <a:ext cx="2231136" cy="2926080"/>
          </a:xfrm>
          <a:prstGeom prst="rect">
            <a:avLst/>
          </a:prstGeom>
          <a:noFill/>
        </p:spPr>
        <p:txBody>
          <a:bodyPr wrap="square">
            <a:spAutoFit/>
          </a:bodyPr>
          <a:lstStyle/>
          <a:p>
            <a:pPr>
              <a:defRPr sz="1400" b="1">
                <a:solidFill>
                  <a:srgbClr val="F59E0B"/>
                </a:solidFill>
              </a:defRPr>
            </a:pPr>
            <a:r>
              <a:t>SUB-SECOND SCALING</a:t>
            </a:r>
          </a:p>
          <a:p>
            <a:pPr>
              <a:spcBef>
                <a:spcPts val="400"/>
              </a:spcBef>
              <a:defRPr sz="1100" b="1">
                <a:solidFill>
                  <a:srgbClr val="0F172A"/>
                </a:solidFill>
              </a:defRPr>
            </a:pPr>
            <a:r>
              <a:t>Enterprise Ready</a:t>
            </a:r>
          </a:p>
          <a:p>
            <a:pPr>
              <a:spcBef>
                <a:spcPts val="800"/>
              </a:spcBef>
              <a:defRPr sz="850">
                <a:solidFill>
                  <a:srgbClr val="64748B"/>
                </a:solidFill>
              </a:defRPr>
            </a:pPr>
            <a:r>
              <a:t>Edge deployment ensures global learners and instructors experience instantaneous, low-latency interaction.</a:t>
            </a:r>
          </a:p>
        </p:txBody>
      </p:sp>
      <p:sp>
        <p:nvSpPr>
          <p:cNvPr id="14" name="Rounded Rectangle 13"/>
          <p:cNvSpPr/>
          <p:nvPr/>
        </p:nvSpPr>
        <p:spPr>
          <a:xfrm>
            <a:off x="731520" y="5029200"/>
            <a:ext cx="10698480" cy="128016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20640"/>
            <a:ext cx="10332720" cy="1097280"/>
          </a:xfrm>
          <a:prstGeom prst="rect">
            <a:avLst/>
          </a:prstGeom>
          <a:noFill/>
        </p:spPr>
        <p:txBody>
          <a:bodyPr wrap="square">
            <a:spAutoFit/>
          </a:bodyPr>
          <a:lstStyle/>
          <a:p>
            <a:pPr algn="ctr">
              <a:defRPr sz="1050" b="1">
                <a:solidFill>
                  <a:srgbClr val="2563EB"/>
                </a:solidFill>
              </a:defRPr>
            </a:pPr>
            <a:r>
              <a:t>"By unifying multimodal educational content under structured relational schemas and evidence-backed AI, we deliver educational clarity at scale while ensuring strict curriculum governance."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11480"/>
            <a:ext cx="73152"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65760"/>
            <a:ext cx="10515600" cy="274320"/>
          </a:xfrm>
          <a:prstGeom prst="rect">
            <a:avLst/>
          </a:prstGeom>
          <a:noFill/>
        </p:spPr>
        <p:txBody>
          <a:bodyPr wrap="square" lIns="0" tIns="0" rIns="0" bIns="0">
            <a:spAutoFit/>
          </a:bodyPr>
          <a:lstStyle/>
          <a:p>
            <a:pPr>
              <a:defRPr sz="950" b="1">
                <a:solidFill>
                  <a:srgbClr val="2563EB"/>
                </a:solidFill>
              </a:defRPr>
            </a:pPr>
            <a:r>
              <a:t>LOOKING FORWARD</a:t>
            </a:r>
          </a:p>
        </p:txBody>
      </p:sp>
      <p:sp>
        <p:nvSpPr>
          <p:cNvPr id="4" name="TextBox 3"/>
          <p:cNvSpPr txBox="1"/>
          <p:nvPr/>
        </p:nvSpPr>
        <p:spPr>
          <a:xfrm>
            <a:off x="896112" y="621792"/>
            <a:ext cx="10515600" cy="502920"/>
          </a:xfrm>
          <a:prstGeom prst="rect">
            <a:avLst/>
          </a:prstGeom>
          <a:noFill/>
        </p:spPr>
        <p:txBody>
          <a:bodyPr wrap="square" lIns="0" tIns="0" rIns="0" bIns="0">
            <a:spAutoFit/>
          </a:bodyPr>
          <a:lstStyle/>
          <a:p>
            <a:pPr>
              <a:defRPr sz="2000" b="1">
                <a:solidFill>
                  <a:srgbClr val="0F172A"/>
                </a:solidFill>
              </a:defRPr>
            </a:pPr>
            <a:r>
              <a:t>Product Roadmap &amp; Next Engineering Milestones</a:t>
            </a:r>
          </a:p>
        </p:txBody>
      </p:sp>
      <p:sp>
        <p:nvSpPr>
          <p:cNvPr id="5" name="TextBox 4"/>
          <p:cNvSpPr txBox="1"/>
          <p:nvPr/>
        </p:nvSpPr>
        <p:spPr>
          <a:xfrm>
            <a:off x="896112" y="1051560"/>
            <a:ext cx="10515600" cy="274320"/>
          </a:xfrm>
          <a:prstGeom prst="rect">
            <a:avLst/>
          </a:prstGeom>
          <a:noFill/>
        </p:spPr>
        <p:txBody>
          <a:bodyPr wrap="square" lIns="0" tIns="0" rIns="0" bIns="0">
            <a:spAutoFit/>
          </a:bodyPr>
          <a:lstStyle/>
          <a:p>
            <a:pPr>
              <a:defRPr sz="1100">
                <a:solidFill>
                  <a:srgbClr val="64748B"/>
                </a:solidFill>
              </a:defRPr>
            </a:pPr>
            <a:r>
              <a:t>Continuous expansion from single-certificate intelligence to enterprise-wide catalog reasoning</a:t>
            </a:r>
          </a:p>
        </p:txBody>
      </p:sp>
      <p:sp>
        <p:nvSpPr>
          <p:cNvPr id="6" name="Rounded Rectangle 5"/>
          <p:cNvSpPr/>
          <p:nvPr/>
        </p:nvSpPr>
        <p:spPr>
          <a:xfrm>
            <a:off x="731520" y="1463040"/>
            <a:ext cx="3474720" cy="4846320"/>
          </a:xfrm>
          <a:prstGeom prst="roundRect">
            <a:avLst/>
          </a:prstGeom>
          <a:solidFill>
            <a:srgbClr val="ECFDF5"/>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00200"/>
            <a:ext cx="3145536" cy="4572000"/>
          </a:xfrm>
          <a:prstGeom prst="rect">
            <a:avLst/>
          </a:prstGeom>
          <a:noFill/>
        </p:spPr>
        <p:txBody>
          <a:bodyPr wrap="square">
            <a:spAutoFit/>
          </a:bodyPr>
          <a:lstStyle/>
          <a:p>
            <a:pPr>
              <a:defRPr sz="1000" b="1">
                <a:solidFill>
                  <a:srgbClr val="10B981"/>
                </a:solidFill>
              </a:defRPr>
            </a:pPr>
            <a:r>
              <a:t>PHASE 1: COMPLETED</a:t>
            </a:r>
          </a:p>
          <a:p>
            <a:pPr>
              <a:spcBef>
                <a:spcPts val="300"/>
              </a:spcBef>
              <a:defRPr sz="1200" b="1">
                <a:solidFill>
                  <a:srgbClr val="0F172A"/>
                </a:solidFill>
              </a:defRPr>
            </a:pPr>
            <a:r>
              <a:t>Multi-Modal Ingestion &amp; DB</a:t>
            </a:r>
          </a:p>
          <a:p>
            <a:pPr>
              <a:spcBef>
                <a:spcPts val="600"/>
              </a:spcBef>
              <a:defRPr sz="850">
                <a:solidFill>
                  <a:srgbClr val="64748B"/>
                </a:solidFill>
              </a:defRPr>
            </a:pPr>
            <a:r>
              <a:t>• 157 course files processed</a:t>
            </a:r>
          </a:p>
          <a:p>
            <a:pPr>
              <a:spcBef>
                <a:spcPts val="600"/>
              </a:spcBef>
              <a:defRPr sz="850">
                <a:solidFill>
                  <a:srgbClr val="64748B"/>
                </a:solidFill>
              </a:defRPr>
            </a:pPr>
            <a:r>
              <a:t>• 12 relational tables initialized</a:t>
            </a:r>
          </a:p>
          <a:p>
            <a:pPr>
              <a:spcBef>
                <a:spcPts val="600"/>
              </a:spcBef>
              <a:defRPr sz="850">
                <a:solidFill>
                  <a:srgbClr val="64748B"/>
                </a:solidFill>
              </a:defRPr>
            </a:pPr>
            <a:r>
              <a:t>• SRT 100ms alignment validated</a:t>
            </a:r>
          </a:p>
          <a:p>
            <a:pPr>
              <a:spcBef>
                <a:spcPts val="600"/>
              </a:spcBef>
              <a:defRPr sz="850">
                <a:solidFill>
                  <a:srgbClr val="64748B"/>
                </a:solidFill>
              </a:defRPr>
            </a:pPr>
            <a:r>
              <a:t>• 97 automated tests certified</a:t>
            </a:r>
          </a:p>
          <a:p>
            <a:pPr>
              <a:spcBef>
                <a:spcPts val="600"/>
              </a:spcBef>
              <a:defRPr sz="850">
                <a:solidFill>
                  <a:srgbClr val="64748B"/>
                </a:solidFill>
              </a:defRPr>
            </a:pPr>
            <a:r>
              <a:t>• Live on Vercel Global Edge</a:t>
            </a:r>
          </a:p>
        </p:txBody>
      </p:sp>
      <p:sp>
        <p:nvSpPr>
          <p:cNvPr id="8" name="Rounded Rectangle 7"/>
          <p:cNvSpPr/>
          <p:nvPr/>
        </p:nvSpPr>
        <p:spPr>
          <a:xfrm>
            <a:off x="4343400" y="1463040"/>
            <a:ext cx="3474720" cy="484632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600200"/>
            <a:ext cx="3145536" cy="4572000"/>
          </a:xfrm>
          <a:prstGeom prst="rect">
            <a:avLst/>
          </a:prstGeom>
          <a:noFill/>
        </p:spPr>
        <p:txBody>
          <a:bodyPr wrap="square">
            <a:spAutoFit/>
          </a:bodyPr>
          <a:lstStyle/>
          <a:p>
            <a:pPr>
              <a:defRPr sz="1000" b="1">
                <a:solidFill>
                  <a:srgbClr val="2563EB"/>
                </a:solidFill>
              </a:defRPr>
            </a:pPr>
            <a:r>
              <a:t>PHASE 2: IN FLIGHT (Q4)</a:t>
            </a:r>
          </a:p>
          <a:p>
            <a:pPr>
              <a:spcBef>
                <a:spcPts val="300"/>
              </a:spcBef>
              <a:defRPr sz="1200" b="1">
                <a:solidFill>
                  <a:srgbClr val="0F172A"/>
                </a:solidFill>
              </a:defRPr>
            </a:pPr>
            <a:r>
              <a:t>Catalog Scaling &amp; Hybrid RAG</a:t>
            </a:r>
          </a:p>
          <a:p>
            <a:pPr>
              <a:spcBef>
                <a:spcPts val="600"/>
              </a:spcBef>
              <a:defRPr sz="850">
                <a:solidFill>
                  <a:srgbClr val="64748B"/>
                </a:solidFill>
              </a:defRPr>
            </a:pPr>
            <a:r>
              <a:t>• Automated multi-course batch ingestion</a:t>
            </a:r>
          </a:p>
          <a:p>
            <a:pPr>
              <a:spcBef>
                <a:spcPts val="600"/>
              </a:spcBef>
              <a:defRPr sz="850">
                <a:solidFill>
                  <a:srgbClr val="64748B"/>
                </a:solidFill>
              </a:defRPr>
            </a:pPr>
            <a:r>
              <a:t>• Hybrid sparse + dense hybrid retrieval</a:t>
            </a:r>
          </a:p>
          <a:p>
            <a:pPr>
              <a:spcBef>
                <a:spcPts val="600"/>
              </a:spcBef>
              <a:defRPr sz="850">
                <a:solidFill>
                  <a:srgbClr val="64748B"/>
                </a:solidFill>
              </a:defRPr>
            </a:pPr>
            <a:r>
              <a:t>• Faculty review feedback loop in UI</a:t>
            </a:r>
          </a:p>
          <a:p>
            <a:pPr>
              <a:spcBef>
                <a:spcPts val="600"/>
              </a:spcBef>
              <a:defRPr sz="850">
                <a:solidFill>
                  <a:srgbClr val="64748B"/>
                </a:solidFill>
              </a:defRPr>
            </a:pPr>
            <a:r>
              <a:t>• Real-time video frame embedding</a:t>
            </a:r>
          </a:p>
          <a:p>
            <a:pPr>
              <a:spcBef>
                <a:spcPts val="600"/>
              </a:spcBef>
              <a:defRPr sz="850">
                <a:solidFill>
                  <a:srgbClr val="64748B"/>
                </a:solidFill>
              </a:defRPr>
            </a:pPr>
            <a:r>
              <a:t>• Automated quiz remediation triggers</a:t>
            </a:r>
          </a:p>
        </p:txBody>
      </p:sp>
      <p:sp>
        <p:nvSpPr>
          <p:cNvPr id="10" name="Rounded Rectangle 9"/>
          <p:cNvSpPr/>
          <p:nvPr/>
        </p:nvSpPr>
        <p:spPr>
          <a:xfrm>
            <a:off x="7955280" y="1463040"/>
            <a:ext cx="3474720" cy="4846320"/>
          </a:xfrm>
          <a:prstGeom prst="roundRect">
            <a:avLst/>
          </a:prstGeom>
          <a:solidFill>
            <a:srgbClr val="F5F3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1600200"/>
            <a:ext cx="3145536" cy="4572000"/>
          </a:xfrm>
          <a:prstGeom prst="rect">
            <a:avLst/>
          </a:prstGeom>
          <a:noFill/>
        </p:spPr>
        <p:txBody>
          <a:bodyPr wrap="square">
            <a:spAutoFit/>
          </a:bodyPr>
          <a:lstStyle/>
          <a:p>
            <a:pPr>
              <a:defRPr sz="1000" b="1">
                <a:solidFill>
                  <a:srgbClr val="8B5CF6"/>
                </a:solidFill>
              </a:defRPr>
            </a:pPr>
            <a:r>
              <a:t>PHASE 3: HORIZON (2027)</a:t>
            </a:r>
          </a:p>
          <a:p>
            <a:pPr>
              <a:spcBef>
                <a:spcPts val="300"/>
              </a:spcBef>
              <a:defRPr sz="1200" b="1">
                <a:solidFill>
                  <a:srgbClr val="0F172A"/>
                </a:solidFill>
              </a:defRPr>
            </a:pPr>
            <a:r>
              <a:t>Autonomous Tutoring &amp; Voice</a:t>
            </a:r>
          </a:p>
          <a:p>
            <a:pPr>
              <a:spcBef>
                <a:spcPts val="600"/>
              </a:spcBef>
              <a:defRPr sz="850">
                <a:solidFill>
                  <a:srgbClr val="64748B"/>
                </a:solidFill>
              </a:defRPr>
            </a:pPr>
            <a:r>
              <a:t>• Conversational voice tutoring agent</a:t>
            </a:r>
          </a:p>
          <a:p>
            <a:pPr>
              <a:spcBef>
                <a:spcPts val="600"/>
              </a:spcBef>
              <a:defRPr sz="850">
                <a:solidFill>
                  <a:srgbClr val="64748B"/>
                </a:solidFill>
              </a:defRPr>
            </a:pPr>
            <a:r>
              <a:t>• Adaptive student skill diagnostics</a:t>
            </a:r>
          </a:p>
          <a:p>
            <a:pPr>
              <a:spcBef>
                <a:spcPts val="600"/>
              </a:spcBef>
              <a:defRPr sz="850">
                <a:solidFill>
                  <a:srgbClr val="64748B"/>
                </a:solidFill>
              </a:defRPr>
            </a:pPr>
            <a:r>
              <a:t>• LMS integration (Canvas, Blackboard)</a:t>
            </a:r>
          </a:p>
          <a:p>
            <a:pPr>
              <a:spcBef>
                <a:spcPts val="600"/>
              </a:spcBef>
              <a:defRPr sz="850">
                <a:solidFill>
                  <a:srgbClr val="64748B"/>
                </a:solidFill>
              </a:defRPr>
            </a:pPr>
            <a:r>
              <a:t>• Predictive course dropout analytics</a:t>
            </a:r>
          </a:p>
          <a:p>
            <a:pPr>
              <a:spcBef>
                <a:spcPts val="600"/>
              </a:spcBef>
              <a:defRPr sz="850">
                <a:solidFill>
                  <a:srgbClr val="64748B"/>
                </a:solidFill>
              </a:defRPr>
            </a:pPr>
            <a:r>
              <a:t>• Multi-lingual transcript synthesis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1645920"/>
          </a:xfrm>
          <a:prstGeom prst="rect">
            <a:avLst/>
          </a:prstGeom>
          <a:noFill/>
        </p:spPr>
        <p:txBody>
          <a:bodyPr wrap="square">
            <a:spAutoFit/>
          </a:bodyPr>
          <a:lstStyle/>
          <a:p>
            <a:pPr>
              <a:defRPr sz="3200" b="1">
                <a:solidFill>
                  <a:srgbClr val="FFFFFF"/>
                </a:solidFill>
              </a:defRPr>
            </a:pPr>
            <a:r>
              <a:t>Thank You! Questions &amp; Live Demonstration</a:t>
            </a:r>
          </a:p>
          <a:p>
            <a:pPr>
              <a:spcBef>
                <a:spcPts val="600"/>
              </a:spcBef>
              <a:defRPr sz="1600">
                <a:solidFill>
                  <a:srgbClr val="94A3B8"/>
                </a:solidFill>
              </a:defRPr>
            </a:pPr>
            <a:r>
              <a:t>The platform is live and ready for interactive evaluation</a:t>
            </a:r>
          </a:p>
        </p:txBody>
      </p:sp>
      <p:sp>
        <p:nvSpPr>
          <p:cNvPr id="4" name="Rounded Rectangle 3"/>
          <p:cNvSpPr/>
          <p:nvPr/>
        </p:nvSpPr>
        <p:spPr>
          <a:xfrm>
            <a:off x="1097280" y="3291840"/>
            <a:ext cx="320040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100" b="1">
                <a:solidFill>
                  <a:srgbClr val="38BDF8"/>
                </a:solidFill>
              </a:defRPr>
            </a:pPr>
            <a:r>
              <a:t>LIVE PRODUCTION APP</a:t>
            </a:r>
          </a:p>
          <a:p>
            <a:pPr>
              <a:spcBef>
                <a:spcPts val="600"/>
              </a:spcBef>
              <a:defRPr sz="900" b="1">
                <a:solidFill>
                  <a:srgbClr val="FFFFFF"/>
                </a:solidFill>
              </a:defRPr>
            </a:pPr>
            <a:r>
              <a:t>https://coursera-multimodal-intelligence-pl.vercel.app/</a:t>
            </a:r>
          </a:p>
          <a:p>
            <a:pPr>
              <a:spcBef>
                <a:spcPts val="400"/>
              </a:spcBef>
              <a:defRPr sz="800">
                <a:solidFill>
                  <a:srgbClr val="94A3B8"/>
                </a:solidFill>
              </a:defRPr>
            </a:pPr>
            <a:r>
              <a:t>Explore dashboard, clickable modals &amp; RAG chat</a:t>
            </a:r>
          </a:p>
        </p:txBody>
      </p:sp>
      <p:sp>
        <p:nvSpPr>
          <p:cNvPr id="5" name="Rounded Rectangle 4"/>
          <p:cNvSpPr/>
          <p:nvPr/>
        </p:nvSpPr>
        <p:spPr>
          <a:xfrm>
            <a:off x="4572000" y="3291840"/>
            <a:ext cx="320040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100" b="1">
                <a:solidFill>
                  <a:srgbClr val="4ADE80"/>
                </a:solidFill>
              </a:defRPr>
            </a:pPr>
            <a:r>
              <a:t>SOURCE REPOSITORY</a:t>
            </a:r>
          </a:p>
          <a:p>
            <a:pPr>
              <a:spcBef>
                <a:spcPts val="600"/>
              </a:spcBef>
              <a:defRPr sz="900" b="1">
                <a:solidFill>
                  <a:srgbClr val="FFFFFF"/>
                </a:solidFill>
              </a:defRPr>
            </a:pPr>
            <a:r>
              <a:t>github.com/abhik99/Coursera-Multimodal-Intelligence-Platform</a:t>
            </a:r>
          </a:p>
          <a:p>
            <a:pPr>
              <a:spcBef>
                <a:spcPts val="400"/>
              </a:spcBef>
              <a:defRPr sz="800">
                <a:solidFill>
                  <a:srgbClr val="94A3B8"/>
                </a:solidFill>
              </a:defRPr>
            </a:pPr>
            <a:r>
              <a:t>Full codebase, 97 test suites &amp; Docker files</a:t>
            </a:r>
          </a:p>
        </p:txBody>
      </p:sp>
      <p:sp>
        <p:nvSpPr>
          <p:cNvPr id="6" name="Rounded Rectangle 5"/>
          <p:cNvSpPr/>
          <p:nvPr/>
        </p:nvSpPr>
        <p:spPr>
          <a:xfrm>
            <a:off x="8046719" y="3291840"/>
            <a:ext cx="320040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182880" tIns="228600"/>
          <a:lstStyle/>
          <a:p>
            <a:pPr algn="ctr">
              <a:defRPr sz="1100" b="1">
                <a:solidFill>
                  <a:srgbClr val="C084FC"/>
                </a:solidFill>
              </a:defRPr>
            </a:pPr>
            <a:r>
              <a:t>TECHNICAL SPECIFICATION</a:t>
            </a:r>
          </a:p>
          <a:p>
            <a:pPr>
              <a:spcBef>
                <a:spcPts val="600"/>
              </a:spcBef>
              <a:defRPr sz="900" b="1">
                <a:solidFill>
                  <a:srgbClr val="FFFFFF"/>
                </a:solidFill>
              </a:defRPr>
            </a:pPr>
            <a:r>
              <a:t>Technical Brief PDF (8 Pages, 922 KB)</a:t>
            </a:r>
          </a:p>
          <a:p>
            <a:pPr>
              <a:spcBef>
                <a:spcPts val="400"/>
              </a:spcBef>
              <a:defRPr sz="800">
                <a:solidFill>
                  <a:srgbClr val="94A3B8"/>
                </a:solidFill>
              </a:defRPr>
            </a:pPr>
            <a:r>
              <a:t>Complete relational schema &amp; API contracts</a:t>
            </a:r>
          </a:p>
        </p:txBody>
      </p:sp>
      <p:sp>
        <p:nvSpPr>
          <p:cNvPr id="7" name="TextBox 6"/>
          <p:cNvSpPr txBox="1"/>
          <p:nvPr/>
        </p:nvSpPr>
        <p:spPr>
          <a:xfrm>
            <a:off x="1097280" y="5669280"/>
            <a:ext cx="10058400" cy="548640"/>
          </a:xfrm>
          <a:prstGeom prst="rect">
            <a:avLst/>
          </a:prstGeom>
          <a:noFill/>
        </p:spPr>
        <p:txBody>
          <a:bodyPr wrap="none">
            <a:spAutoFit/>
          </a:bodyPr>
          <a:lstStyle/>
          <a:p>
            <a:pPr algn="ctr">
              <a:defRPr sz="1000" b="1">
                <a:solidFill>
                  <a:srgbClr val="94A3B8"/>
                </a:solidFill>
              </a:defRPr>
            </a:pPr>
            <a:r>
              <a:t>Coursera Multimodal Intelligence Platform | Certified Ready for General Availability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